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5498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" name="Shape 1"/>
          <p:cNvSpPr/>
          <p:nvPr/>
        </p:nvSpPr>
        <p:spPr>
          <a:xfrm>
            <a:off x="6583680" y="365760"/>
            <a:ext cx="54864" cy="54864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" name="Shape 2"/>
          <p:cNvSpPr/>
          <p:nvPr/>
        </p:nvSpPr>
        <p:spPr>
          <a:xfrm>
            <a:off x="6583680" y="868680"/>
            <a:ext cx="54864" cy="54864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5" name="Shape 3"/>
          <p:cNvSpPr/>
          <p:nvPr/>
        </p:nvSpPr>
        <p:spPr>
          <a:xfrm>
            <a:off x="6583680" y="1371600"/>
            <a:ext cx="54864" cy="54864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6" name="Shape 4"/>
          <p:cNvSpPr/>
          <p:nvPr/>
        </p:nvSpPr>
        <p:spPr>
          <a:xfrm>
            <a:off x="6583680" y="1874520"/>
            <a:ext cx="54864" cy="54864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7" name="Shape 5"/>
          <p:cNvSpPr/>
          <p:nvPr/>
        </p:nvSpPr>
        <p:spPr>
          <a:xfrm>
            <a:off x="6583680" y="2377440"/>
            <a:ext cx="54864" cy="54864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8" name="Shape 6"/>
          <p:cNvSpPr/>
          <p:nvPr/>
        </p:nvSpPr>
        <p:spPr>
          <a:xfrm>
            <a:off x="7040880" y="365760"/>
            <a:ext cx="54864" cy="54864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9" name="Shape 7"/>
          <p:cNvSpPr/>
          <p:nvPr/>
        </p:nvSpPr>
        <p:spPr>
          <a:xfrm>
            <a:off x="7040880" y="868680"/>
            <a:ext cx="54864" cy="54864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0" name="Shape 8"/>
          <p:cNvSpPr/>
          <p:nvPr/>
        </p:nvSpPr>
        <p:spPr>
          <a:xfrm>
            <a:off x="7040880" y="1371600"/>
            <a:ext cx="54864" cy="54864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1" name="Shape 9"/>
          <p:cNvSpPr/>
          <p:nvPr/>
        </p:nvSpPr>
        <p:spPr>
          <a:xfrm>
            <a:off x="7040880" y="1874520"/>
            <a:ext cx="54864" cy="54864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2" name="Shape 10"/>
          <p:cNvSpPr/>
          <p:nvPr/>
        </p:nvSpPr>
        <p:spPr>
          <a:xfrm>
            <a:off x="7040880" y="2377440"/>
            <a:ext cx="54864" cy="54864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3" name="Shape 11"/>
          <p:cNvSpPr/>
          <p:nvPr/>
        </p:nvSpPr>
        <p:spPr>
          <a:xfrm>
            <a:off x="7498080" y="365760"/>
            <a:ext cx="54864" cy="54864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4" name="Shape 12"/>
          <p:cNvSpPr/>
          <p:nvPr/>
        </p:nvSpPr>
        <p:spPr>
          <a:xfrm>
            <a:off x="7498080" y="868680"/>
            <a:ext cx="54864" cy="54864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5" name="Shape 13"/>
          <p:cNvSpPr/>
          <p:nvPr/>
        </p:nvSpPr>
        <p:spPr>
          <a:xfrm>
            <a:off x="7498080" y="1371600"/>
            <a:ext cx="54864" cy="54864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6" name="Shape 14"/>
          <p:cNvSpPr/>
          <p:nvPr/>
        </p:nvSpPr>
        <p:spPr>
          <a:xfrm>
            <a:off x="7498080" y="1874520"/>
            <a:ext cx="54864" cy="54864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7" name="Shape 15"/>
          <p:cNvSpPr/>
          <p:nvPr/>
        </p:nvSpPr>
        <p:spPr>
          <a:xfrm>
            <a:off x="7498080" y="2377440"/>
            <a:ext cx="54864" cy="54864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8" name="Shape 16"/>
          <p:cNvSpPr/>
          <p:nvPr/>
        </p:nvSpPr>
        <p:spPr>
          <a:xfrm>
            <a:off x="7955280" y="365760"/>
            <a:ext cx="54864" cy="54864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9" name="Shape 17"/>
          <p:cNvSpPr/>
          <p:nvPr/>
        </p:nvSpPr>
        <p:spPr>
          <a:xfrm>
            <a:off x="7955280" y="868680"/>
            <a:ext cx="54864" cy="54864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0" name="Shape 18"/>
          <p:cNvSpPr/>
          <p:nvPr/>
        </p:nvSpPr>
        <p:spPr>
          <a:xfrm>
            <a:off x="7955280" y="1371600"/>
            <a:ext cx="54864" cy="54864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1" name="Shape 19"/>
          <p:cNvSpPr/>
          <p:nvPr/>
        </p:nvSpPr>
        <p:spPr>
          <a:xfrm>
            <a:off x="7955280" y="1874520"/>
            <a:ext cx="54864" cy="54864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2" name="Shape 20"/>
          <p:cNvSpPr/>
          <p:nvPr/>
        </p:nvSpPr>
        <p:spPr>
          <a:xfrm>
            <a:off x="7955280" y="2377440"/>
            <a:ext cx="54864" cy="54864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3" name="Shape 21"/>
          <p:cNvSpPr/>
          <p:nvPr/>
        </p:nvSpPr>
        <p:spPr>
          <a:xfrm>
            <a:off x="8412480" y="365760"/>
            <a:ext cx="54864" cy="54864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4" name="Shape 22"/>
          <p:cNvSpPr/>
          <p:nvPr/>
        </p:nvSpPr>
        <p:spPr>
          <a:xfrm>
            <a:off x="8412480" y="868680"/>
            <a:ext cx="54864" cy="54864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5" name="Shape 23"/>
          <p:cNvSpPr/>
          <p:nvPr/>
        </p:nvSpPr>
        <p:spPr>
          <a:xfrm>
            <a:off x="8412480" y="1371600"/>
            <a:ext cx="54864" cy="54864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6" name="Shape 24"/>
          <p:cNvSpPr/>
          <p:nvPr/>
        </p:nvSpPr>
        <p:spPr>
          <a:xfrm>
            <a:off x="8412480" y="1874520"/>
            <a:ext cx="54864" cy="54864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7" name="Shape 25"/>
          <p:cNvSpPr/>
          <p:nvPr/>
        </p:nvSpPr>
        <p:spPr>
          <a:xfrm>
            <a:off x="8412480" y="2377440"/>
            <a:ext cx="54864" cy="54864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8" name="Shape 26"/>
          <p:cNvSpPr/>
          <p:nvPr/>
        </p:nvSpPr>
        <p:spPr>
          <a:xfrm>
            <a:off x="8869680" y="365760"/>
            <a:ext cx="54864" cy="54864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9" name="Shape 27"/>
          <p:cNvSpPr/>
          <p:nvPr/>
        </p:nvSpPr>
        <p:spPr>
          <a:xfrm>
            <a:off x="8869680" y="868680"/>
            <a:ext cx="54864" cy="54864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0" name="Shape 28"/>
          <p:cNvSpPr/>
          <p:nvPr/>
        </p:nvSpPr>
        <p:spPr>
          <a:xfrm>
            <a:off x="8869680" y="1371600"/>
            <a:ext cx="54864" cy="54864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1" name="Shape 29"/>
          <p:cNvSpPr/>
          <p:nvPr/>
        </p:nvSpPr>
        <p:spPr>
          <a:xfrm>
            <a:off x="8869680" y="1874520"/>
            <a:ext cx="54864" cy="54864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2" name="Shape 30"/>
          <p:cNvSpPr/>
          <p:nvPr/>
        </p:nvSpPr>
        <p:spPr>
          <a:xfrm>
            <a:off x="8869680" y="2377440"/>
            <a:ext cx="54864" cy="54864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3" name="Text 31"/>
          <p:cNvSpPr/>
          <p:nvPr/>
        </p:nvSpPr>
        <p:spPr>
          <a:xfrm>
            <a:off x="411480" y="3474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Latinoamericana de Ciencia y Tecnología</a:t>
            </a:r>
            <a:endParaRPr lang="es-CR" sz="1100" noProof="0" dirty="0"/>
          </a:p>
        </p:txBody>
      </p:sp>
      <p:sp>
        <p:nvSpPr>
          <p:cNvPr id="34" name="Text 32"/>
          <p:cNvSpPr/>
          <p:nvPr/>
        </p:nvSpPr>
        <p:spPr>
          <a:xfrm>
            <a:off x="411480" y="62179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Informática  ·  Procesamiento de Datos Masivos en la Nube</a:t>
            </a:r>
            <a:endParaRPr lang="es-CR" sz="1050" noProof="0" dirty="0"/>
          </a:p>
        </p:txBody>
      </p:sp>
      <p:sp>
        <p:nvSpPr>
          <p:cNvPr id="35" name="Text 33"/>
          <p:cNvSpPr/>
          <p:nvPr/>
        </p:nvSpPr>
        <p:spPr>
          <a:xfrm>
            <a:off x="411480" y="102412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46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Movilidad</a:t>
            </a:r>
            <a:endParaRPr lang="es-CR" sz="4600" noProof="0" dirty="0"/>
          </a:p>
        </p:txBody>
      </p:sp>
      <p:sp>
        <p:nvSpPr>
          <p:cNvPr id="36" name="Text 34"/>
          <p:cNvSpPr/>
          <p:nvPr/>
        </p:nvSpPr>
        <p:spPr>
          <a:xfrm>
            <a:off x="411480" y="1737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4600" b="1" noProof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Urbana · NYC Taxi</a:t>
            </a:r>
            <a:endParaRPr lang="es-CR" sz="4600" noProof="0" dirty="0"/>
          </a:p>
        </p:txBody>
      </p:sp>
      <p:sp>
        <p:nvSpPr>
          <p:cNvPr id="37" name="Shape 35"/>
          <p:cNvSpPr/>
          <p:nvPr/>
        </p:nvSpPr>
        <p:spPr>
          <a:xfrm>
            <a:off x="411480" y="2697480"/>
            <a:ext cx="3657600" cy="384048"/>
          </a:xfrm>
          <a:prstGeom prst="roundRect">
            <a:avLst>
              <a:gd name="adj" fmla="val 2381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8" name="Text 36"/>
          <p:cNvSpPr/>
          <p:nvPr/>
        </p:nvSpPr>
        <p:spPr>
          <a:xfrm>
            <a:off x="411480" y="26974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100" noProof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Técnico -  GCP  ·  </a:t>
            </a:r>
            <a:r>
              <a:rPr lang="es-CR" sz="1100" noProof="0" dirty="0" err="1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s-CR" sz="1100" noProof="0" dirty="0"/>
          </a:p>
        </p:txBody>
      </p:sp>
      <p:sp>
        <p:nvSpPr>
          <p:cNvPr id="39" name="Shape 37"/>
          <p:cNvSpPr/>
          <p:nvPr/>
        </p:nvSpPr>
        <p:spPr>
          <a:xfrm>
            <a:off x="411480" y="3310128"/>
            <a:ext cx="1920240" cy="10241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0" name="Shape 38"/>
          <p:cNvSpPr/>
          <p:nvPr/>
        </p:nvSpPr>
        <p:spPr>
          <a:xfrm>
            <a:off x="411480" y="3310128"/>
            <a:ext cx="1920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1" name="Text 39"/>
          <p:cNvSpPr/>
          <p:nvPr/>
        </p:nvSpPr>
        <p:spPr>
          <a:xfrm>
            <a:off x="411480" y="335584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2800" b="1" noProof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11.6M</a:t>
            </a:r>
            <a:endParaRPr lang="es-CR" sz="2800" noProof="0" dirty="0"/>
          </a:p>
        </p:txBody>
      </p:sp>
      <p:sp>
        <p:nvSpPr>
          <p:cNvPr id="42" name="Text 40"/>
          <p:cNvSpPr/>
          <p:nvPr/>
        </p:nvSpPr>
        <p:spPr>
          <a:xfrm>
            <a:off x="411480" y="3886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s-CR" sz="1100" noProof="0" dirty="0"/>
          </a:p>
        </p:txBody>
      </p:sp>
      <p:sp>
        <p:nvSpPr>
          <p:cNvPr id="43" name="Shape 41"/>
          <p:cNvSpPr/>
          <p:nvPr/>
        </p:nvSpPr>
        <p:spPr>
          <a:xfrm>
            <a:off x="2560320" y="3310128"/>
            <a:ext cx="1920240" cy="10241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4" name="Shape 42"/>
          <p:cNvSpPr/>
          <p:nvPr/>
        </p:nvSpPr>
        <p:spPr>
          <a:xfrm>
            <a:off x="2560320" y="3310128"/>
            <a:ext cx="1920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5" name="Text 43"/>
          <p:cNvSpPr/>
          <p:nvPr/>
        </p:nvSpPr>
        <p:spPr>
          <a:xfrm>
            <a:off x="2560320" y="335584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2800" b="1" noProof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CR" sz="2800" noProof="0" dirty="0"/>
          </a:p>
        </p:txBody>
      </p:sp>
      <p:sp>
        <p:nvSpPr>
          <p:cNvPr id="46" name="Text 44"/>
          <p:cNvSpPr/>
          <p:nvPr/>
        </p:nvSpPr>
        <p:spPr>
          <a:xfrm>
            <a:off x="2560320" y="3886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</a:t>
            </a:r>
            <a:endParaRPr lang="es-CR" sz="1100" noProof="0" dirty="0"/>
          </a:p>
        </p:txBody>
      </p:sp>
      <p:sp>
        <p:nvSpPr>
          <p:cNvPr id="47" name="Shape 45"/>
          <p:cNvSpPr/>
          <p:nvPr/>
        </p:nvSpPr>
        <p:spPr>
          <a:xfrm>
            <a:off x="4709160" y="3310128"/>
            <a:ext cx="1920240" cy="10241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8" name="Shape 46"/>
          <p:cNvSpPr/>
          <p:nvPr/>
        </p:nvSpPr>
        <p:spPr>
          <a:xfrm>
            <a:off x="4709160" y="3310128"/>
            <a:ext cx="1920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9" name="Text 47"/>
          <p:cNvSpPr/>
          <p:nvPr/>
        </p:nvSpPr>
        <p:spPr>
          <a:xfrm>
            <a:off x="4709160" y="335584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2800" b="1" noProof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MB</a:t>
            </a:r>
            <a:endParaRPr lang="es-CR" sz="2800" noProof="0" dirty="0"/>
          </a:p>
        </p:txBody>
      </p:sp>
      <p:sp>
        <p:nvSpPr>
          <p:cNvPr id="50" name="Text 48"/>
          <p:cNvSpPr/>
          <p:nvPr/>
        </p:nvSpPr>
        <p:spPr>
          <a:xfrm>
            <a:off x="4709160" y="3886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1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endParaRPr lang="es-CR" sz="1100" noProof="0" dirty="0"/>
          </a:p>
        </p:txBody>
      </p:sp>
      <p:sp>
        <p:nvSpPr>
          <p:cNvPr id="51" name="Shape 49"/>
          <p:cNvSpPr/>
          <p:nvPr/>
        </p:nvSpPr>
        <p:spPr>
          <a:xfrm>
            <a:off x="6858000" y="3310128"/>
            <a:ext cx="1920240" cy="10241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52" name="Shape 50"/>
          <p:cNvSpPr/>
          <p:nvPr/>
        </p:nvSpPr>
        <p:spPr>
          <a:xfrm>
            <a:off x="6858000" y="3310128"/>
            <a:ext cx="1920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53" name="Text 51"/>
          <p:cNvSpPr/>
          <p:nvPr/>
        </p:nvSpPr>
        <p:spPr>
          <a:xfrm>
            <a:off x="6858000" y="335584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2800" b="1" noProof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s-CR" sz="2800" noProof="0" dirty="0"/>
          </a:p>
        </p:txBody>
      </p:sp>
      <p:sp>
        <p:nvSpPr>
          <p:cNvPr id="54" name="Text 52"/>
          <p:cNvSpPr/>
          <p:nvPr/>
        </p:nvSpPr>
        <p:spPr>
          <a:xfrm>
            <a:off x="6858000" y="3886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</a:t>
            </a:r>
            <a:r>
              <a:rPr lang="es-CR" sz="11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s-CR" sz="1100" noProof="0" dirty="0"/>
          </a:p>
        </p:txBody>
      </p:sp>
      <p:sp>
        <p:nvSpPr>
          <p:cNvPr id="55" name="Text 53"/>
          <p:cNvSpPr/>
          <p:nvPr/>
        </p:nvSpPr>
        <p:spPr>
          <a:xfrm>
            <a:off x="411480" y="4709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CR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A. Miranda Porras  ·  </a:t>
            </a:r>
            <a:r>
              <a:rPr lang="es-CR" sz="10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Jhon</a:t>
            </a:r>
            <a:r>
              <a:rPr lang="es-CR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R" sz="10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Kaleb</a:t>
            </a:r>
            <a:r>
              <a:rPr lang="es-CR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Wright Herrera  ·  Abril 2026</a:t>
            </a:r>
            <a:endParaRPr lang="es-CR" sz="10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" name="Text 1"/>
          <p:cNvSpPr/>
          <p:nvPr/>
        </p:nvSpPr>
        <p:spPr>
          <a:xfrm>
            <a:off x="384048" y="182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200" b="1" noProof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s-CR" sz="1200" noProof="0" dirty="0"/>
          </a:p>
        </p:txBody>
      </p:sp>
      <p:sp>
        <p:nvSpPr>
          <p:cNvPr id="4" name="Text 2"/>
          <p:cNvSpPr/>
          <p:nvPr/>
        </p:nvSpPr>
        <p:spPr>
          <a:xfrm>
            <a:off x="384048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32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s-CR" sz="3200" noProof="0" dirty="0"/>
          </a:p>
        </p:txBody>
      </p:sp>
      <p:sp>
        <p:nvSpPr>
          <p:cNvPr id="5" name="Text 3"/>
          <p:cNvSpPr/>
          <p:nvPr/>
        </p:nvSpPr>
        <p:spPr>
          <a:xfrm>
            <a:off x="384048" y="111556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400" b="1" noProof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</a:t>
            </a:r>
            <a:endParaRPr lang="es-CR" sz="1400" noProof="0" dirty="0"/>
          </a:p>
        </p:txBody>
      </p:sp>
      <p:sp>
        <p:nvSpPr>
          <p:cNvPr id="6" name="Text 4"/>
          <p:cNvSpPr/>
          <p:nvPr/>
        </p:nvSpPr>
        <p:spPr>
          <a:xfrm>
            <a:off x="384048" y="1426464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20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completa de una arquitectura Big Data en Google Cloud </a:t>
            </a:r>
            <a:r>
              <a:rPr lang="es-CR" sz="1200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r>
              <a:rPr lang="es-CR" sz="120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(GCP) para el procesamiento y análisis del </a:t>
            </a:r>
            <a:r>
              <a:rPr lang="es-CR" sz="1200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r>
              <a:rPr lang="es-CR" sz="120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público NYC </a:t>
            </a:r>
            <a:r>
              <a:rPr lang="es-CR" sz="1200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r>
              <a:rPr lang="es-CR" sz="120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Taxi </a:t>
            </a:r>
            <a:r>
              <a:rPr lang="es-CR" sz="1200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</a:t>
            </a:r>
            <a:r>
              <a:rPr lang="es-CR" sz="120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R" sz="1200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r>
              <a:rPr lang="es-CR" sz="120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correspondiente a los meses de octubre, noviembre y diciembre de 2025.</a:t>
            </a:r>
            <a:endParaRPr lang="es-CR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384048" y="251460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400" b="1" noProof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s-CR" sz="1400" noProof="0" dirty="0"/>
          </a:p>
        </p:txBody>
      </p:sp>
      <p:sp>
        <p:nvSpPr>
          <p:cNvPr id="8" name="Text 6"/>
          <p:cNvSpPr/>
          <p:nvPr/>
        </p:nvSpPr>
        <p:spPr>
          <a:xfrm>
            <a:off x="384048" y="2825496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20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es demostrar la capacidad de diseñar, implementar y documentar un pipeline de procesamiento de datos masivos en la nube, utilizando exclusivamente servicios del Free </a:t>
            </a:r>
            <a:r>
              <a:rPr lang="es-CR" sz="1200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r>
              <a:rPr lang="es-CR" sz="120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GCP, con automatización completa mediante Python + </a:t>
            </a:r>
            <a:r>
              <a:rPr lang="es-CR" sz="1200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r>
              <a:rPr lang="es-CR" sz="120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CR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4892040" y="1097280"/>
            <a:ext cx="3931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0" name="Shape 8"/>
          <p:cNvSpPr/>
          <p:nvPr/>
        </p:nvSpPr>
        <p:spPr>
          <a:xfrm>
            <a:off x="4892040" y="1097280"/>
            <a:ext cx="54864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1" name="Text 9"/>
          <p:cNvSpPr/>
          <p:nvPr/>
        </p:nvSpPr>
        <p:spPr>
          <a:xfrm>
            <a:off x="5029200" y="11430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0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r>
              <a:rPr lang="es-CR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s-CR" sz="1000" noProof="0" dirty="0"/>
          </a:p>
        </p:txBody>
      </p:sp>
      <p:sp>
        <p:nvSpPr>
          <p:cNvPr id="12" name="Text 10"/>
          <p:cNvSpPr/>
          <p:nvPr/>
        </p:nvSpPr>
        <p:spPr>
          <a:xfrm>
            <a:off x="5029200" y="132588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2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</a:t>
            </a:r>
            <a:r>
              <a:rPr lang="es-CR" sz="1200" b="1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r>
              <a:rPr lang="es-CR" sz="12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Taxi </a:t>
            </a:r>
            <a:r>
              <a:rPr lang="es-CR" sz="1200" b="1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</a:t>
            </a:r>
            <a:r>
              <a:rPr lang="es-CR" sz="12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R" sz="1200" b="1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s-CR" sz="1200" noProof="0" dirty="0"/>
          </a:p>
        </p:txBody>
      </p:sp>
      <p:sp>
        <p:nvSpPr>
          <p:cNvPr id="13" name="Shape 11"/>
          <p:cNvSpPr/>
          <p:nvPr/>
        </p:nvSpPr>
        <p:spPr>
          <a:xfrm>
            <a:off x="4892040" y="1719072"/>
            <a:ext cx="3931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4" name="Shape 12"/>
          <p:cNvSpPr/>
          <p:nvPr/>
        </p:nvSpPr>
        <p:spPr>
          <a:xfrm>
            <a:off x="4892040" y="1719072"/>
            <a:ext cx="54864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5" name="Text 13"/>
          <p:cNvSpPr/>
          <p:nvPr/>
        </p:nvSpPr>
        <p:spPr>
          <a:xfrm>
            <a:off x="5029200" y="176479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Período:</a:t>
            </a:r>
            <a:endParaRPr lang="es-CR" sz="1000" noProof="0" dirty="0"/>
          </a:p>
        </p:txBody>
      </p:sp>
      <p:sp>
        <p:nvSpPr>
          <p:cNvPr id="16" name="Text 14"/>
          <p:cNvSpPr/>
          <p:nvPr/>
        </p:nvSpPr>
        <p:spPr>
          <a:xfrm>
            <a:off x="5029200" y="19476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2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Oct, Nov, Dic 2025</a:t>
            </a:r>
            <a:endParaRPr lang="es-CR" sz="1200" noProof="0" dirty="0"/>
          </a:p>
        </p:txBody>
      </p:sp>
      <p:sp>
        <p:nvSpPr>
          <p:cNvPr id="17" name="Shape 15"/>
          <p:cNvSpPr/>
          <p:nvPr/>
        </p:nvSpPr>
        <p:spPr>
          <a:xfrm>
            <a:off x="4892040" y="2340864"/>
            <a:ext cx="3931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8" name="Shape 16"/>
          <p:cNvSpPr/>
          <p:nvPr/>
        </p:nvSpPr>
        <p:spPr>
          <a:xfrm>
            <a:off x="4892040" y="2340864"/>
            <a:ext cx="54864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9" name="Text 17"/>
          <p:cNvSpPr/>
          <p:nvPr/>
        </p:nvSpPr>
        <p:spPr>
          <a:xfrm>
            <a:off x="5029200" y="238658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limpios:</a:t>
            </a:r>
            <a:endParaRPr lang="es-CR" sz="1000" noProof="0" dirty="0"/>
          </a:p>
        </p:txBody>
      </p:sp>
      <p:sp>
        <p:nvSpPr>
          <p:cNvPr id="20" name="Text 18"/>
          <p:cNvSpPr/>
          <p:nvPr/>
        </p:nvSpPr>
        <p:spPr>
          <a:xfrm>
            <a:off x="5029200" y="256946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2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11,599,258</a:t>
            </a:r>
            <a:endParaRPr lang="es-CR" sz="1200" noProof="0" dirty="0"/>
          </a:p>
        </p:txBody>
      </p:sp>
      <p:sp>
        <p:nvSpPr>
          <p:cNvPr id="21" name="Shape 19"/>
          <p:cNvSpPr/>
          <p:nvPr/>
        </p:nvSpPr>
        <p:spPr>
          <a:xfrm>
            <a:off x="4892040" y="2962656"/>
            <a:ext cx="3931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2" name="Shape 20"/>
          <p:cNvSpPr/>
          <p:nvPr/>
        </p:nvSpPr>
        <p:spPr>
          <a:xfrm>
            <a:off x="4892040" y="2962656"/>
            <a:ext cx="54864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3" name="Text 21"/>
          <p:cNvSpPr/>
          <p:nvPr/>
        </p:nvSpPr>
        <p:spPr>
          <a:xfrm>
            <a:off x="5029200" y="300837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Tamaño:</a:t>
            </a:r>
            <a:endParaRPr lang="es-CR" sz="1000" noProof="0" dirty="0"/>
          </a:p>
        </p:txBody>
      </p:sp>
      <p:sp>
        <p:nvSpPr>
          <p:cNvPr id="24" name="Text 22"/>
          <p:cNvSpPr/>
          <p:nvPr/>
        </p:nvSpPr>
        <p:spPr>
          <a:xfrm>
            <a:off x="5029200" y="3191256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2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~220 MB (</a:t>
            </a:r>
            <a:r>
              <a:rPr lang="es-CR" sz="1200" b="1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r>
              <a:rPr lang="es-CR" sz="12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s-CR" sz="1200" noProof="0" dirty="0"/>
          </a:p>
        </p:txBody>
      </p:sp>
      <p:sp>
        <p:nvSpPr>
          <p:cNvPr id="25" name="Shape 23"/>
          <p:cNvSpPr/>
          <p:nvPr/>
        </p:nvSpPr>
        <p:spPr>
          <a:xfrm>
            <a:off x="4892040" y="3584448"/>
            <a:ext cx="3931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6" name="Shape 24"/>
          <p:cNvSpPr/>
          <p:nvPr/>
        </p:nvSpPr>
        <p:spPr>
          <a:xfrm>
            <a:off x="4892040" y="3584448"/>
            <a:ext cx="54864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7" name="Text 25"/>
          <p:cNvSpPr/>
          <p:nvPr/>
        </p:nvSpPr>
        <p:spPr>
          <a:xfrm>
            <a:off x="5029200" y="36301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</a:t>
            </a:r>
            <a:endParaRPr lang="es-CR" sz="1000" noProof="0" dirty="0"/>
          </a:p>
        </p:txBody>
      </p:sp>
      <p:sp>
        <p:nvSpPr>
          <p:cNvPr id="28" name="Text 26"/>
          <p:cNvSpPr/>
          <p:nvPr/>
        </p:nvSpPr>
        <p:spPr>
          <a:xfrm>
            <a:off x="5029200" y="3813048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2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TLC Open Data</a:t>
            </a:r>
            <a:endParaRPr lang="es-CR" sz="1200" noProof="0" dirty="0"/>
          </a:p>
        </p:txBody>
      </p:sp>
      <p:sp>
        <p:nvSpPr>
          <p:cNvPr id="29" name="Shape 27"/>
          <p:cNvSpPr/>
          <p:nvPr/>
        </p:nvSpPr>
        <p:spPr>
          <a:xfrm>
            <a:off x="4892040" y="4206240"/>
            <a:ext cx="3931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0" name="Shape 28"/>
          <p:cNvSpPr/>
          <p:nvPr/>
        </p:nvSpPr>
        <p:spPr>
          <a:xfrm>
            <a:off x="4892040" y="4206240"/>
            <a:ext cx="54864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1" name="Text 29"/>
          <p:cNvSpPr/>
          <p:nvPr/>
        </p:nvSpPr>
        <p:spPr>
          <a:xfrm>
            <a:off x="5029200" y="425196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Automatización:</a:t>
            </a:r>
            <a:endParaRPr lang="es-CR" sz="1000" noProof="0" dirty="0"/>
          </a:p>
        </p:txBody>
      </p:sp>
      <p:sp>
        <p:nvSpPr>
          <p:cNvPr id="32" name="Text 30"/>
          <p:cNvSpPr/>
          <p:nvPr/>
        </p:nvSpPr>
        <p:spPr>
          <a:xfrm>
            <a:off x="5029200" y="4434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2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s-CR" sz="12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" name="Text 1"/>
          <p:cNvSpPr/>
          <p:nvPr/>
        </p:nvSpPr>
        <p:spPr>
          <a:xfrm>
            <a:off x="384048" y="182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200" b="1" noProof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s-CR" sz="1200" noProof="0" dirty="0"/>
          </a:p>
        </p:txBody>
      </p:sp>
      <p:sp>
        <p:nvSpPr>
          <p:cNvPr id="4" name="Text 2"/>
          <p:cNvSpPr/>
          <p:nvPr/>
        </p:nvSpPr>
        <p:spPr>
          <a:xfrm>
            <a:off x="384048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32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GCP</a:t>
            </a:r>
            <a:endParaRPr lang="es-CR" sz="3200" noProof="0" dirty="0"/>
          </a:p>
        </p:txBody>
      </p:sp>
      <p:sp>
        <p:nvSpPr>
          <p:cNvPr id="5" name="Text 3"/>
          <p:cNvSpPr/>
          <p:nvPr/>
        </p:nvSpPr>
        <p:spPr>
          <a:xfrm>
            <a:off x="384048" y="8961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por lotes (</a:t>
            </a:r>
            <a:r>
              <a:rPr lang="es-CR" sz="12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r>
              <a:rPr lang="es-CR" sz="1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en 5 capas — Free </a:t>
            </a:r>
            <a:r>
              <a:rPr lang="es-CR" sz="12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s-CR" sz="1200" noProof="0" dirty="0"/>
          </a:p>
        </p:txBody>
      </p:sp>
      <p:sp>
        <p:nvSpPr>
          <p:cNvPr id="6" name="Shape 4"/>
          <p:cNvSpPr/>
          <p:nvPr/>
        </p:nvSpPr>
        <p:spPr>
          <a:xfrm>
            <a:off x="384048" y="1298448"/>
            <a:ext cx="155448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7" name="Shape 5"/>
          <p:cNvSpPr/>
          <p:nvPr/>
        </p:nvSpPr>
        <p:spPr>
          <a:xfrm>
            <a:off x="384048" y="1298448"/>
            <a:ext cx="155448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8" name="Text 6"/>
          <p:cNvSpPr/>
          <p:nvPr/>
        </p:nvSpPr>
        <p:spPr>
          <a:xfrm>
            <a:off x="384048" y="138988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000" b="1" noProof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s-CR" sz="1000" noProof="0" dirty="0"/>
          </a:p>
        </p:txBody>
      </p:sp>
      <p:sp>
        <p:nvSpPr>
          <p:cNvPr id="9" name="Text 7"/>
          <p:cNvSpPr/>
          <p:nvPr/>
        </p:nvSpPr>
        <p:spPr>
          <a:xfrm>
            <a:off x="384048" y="1737360"/>
            <a:ext cx="1554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CR" sz="100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TLC Open Data</a:t>
            </a:r>
            <a:endParaRPr lang="es-CR" sz="1000" noProof="0" dirty="0"/>
          </a:p>
          <a:p>
            <a:pPr marL="0" indent="0" algn="ctr">
              <a:buNone/>
            </a:pPr>
            <a:r>
              <a:rPr lang="es-CR" sz="100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archivos </a:t>
            </a:r>
            <a:r>
              <a:rPr lang="es-CR" sz="1000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endParaRPr lang="es-CR" sz="1000" noProof="0" dirty="0"/>
          </a:p>
        </p:txBody>
      </p:sp>
      <p:sp>
        <p:nvSpPr>
          <p:cNvPr id="10" name="Shape 8"/>
          <p:cNvSpPr/>
          <p:nvPr/>
        </p:nvSpPr>
        <p:spPr>
          <a:xfrm>
            <a:off x="1956816" y="2212848"/>
            <a:ext cx="128016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1" name="Text 9"/>
          <p:cNvSpPr/>
          <p:nvPr/>
        </p:nvSpPr>
        <p:spPr>
          <a:xfrm>
            <a:off x="2029968" y="210312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s-CR" sz="1000" noProof="0" dirty="0"/>
          </a:p>
        </p:txBody>
      </p:sp>
      <p:sp>
        <p:nvSpPr>
          <p:cNvPr id="12" name="Shape 10"/>
          <p:cNvSpPr/>
          <p:nvPr/>
        </p:nvSpPr>
        <p:spPr>
          <a:xfrm>
            <a:off x="2103120" y="1298448"/>
            <a:ext cx="155448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3" name="Shape 11"/>
          <p:cNvSpPr/>
          <p:nvPr/>
        </p:nvSpPr>
        <p:spPr>
          <a:xfrm>
            <a:off x="2103120" y="1298448"/>
            <a:ext cx="155448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4" name="Text 12"/>
          <p:cNvSpPr/>
          <p:nvPr/>
        </p:nvSpPr>
        <p:spPr>
          <a:xfrm>
            <a:off x="2103120" y="138988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000" b="1" noProof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s-CR" sz="1000" noProof="0" dirty="0"/>
          </a:p>
        </p:txBody>
      </p:sp>
      <p:sp>
        <p:nvSpPr>
          <p:cNvPr id="15" name="Text 13"/>
          <p:cNvSpPr/>
          <p:nvPr/>
        </p:nvSpPr>
        <p:spPr>
          <a:xfrm>
            <a:off x="2103120" y="1737360"/>
            <a:ext cx="1554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CR" sz="100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s-CR" sz="1000" noProof="0" dirty="0"/>
          </a:p>
          <a:p>
            <a:pPr marL="0" indent="0" algn="ctr">
              <a:buNone/>
            </a:pPr>
            <a:r>
              <a:rPr lang="es-CR" sz="100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raw/ </a:t>
            </a:r>
            <a:r>
              <a:rPr lang="es-CR" sz="1000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r>
              <a:rPr lang="es-CR" sz="100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s-CR" sz="1000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r>
              <a:rPr lang="es-CR" sz="100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s-CR" sz="1000" noProof="0" dirty="0"/>
          </a:p>
        </p:txBody>
      </p:sp>
      <p:sp>
        <p:nvSpPr>
          <p:cNvPr id="16" name="Shape 14"/>
          <p:cNvSpPr/>
          <p:nvPr/>
        </p:nvSpPr>
        <p:spPr>
          <a:xfrm>
            <a:off x="3675888" y="2212848"/>
            <a:ext cx="128016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7" name="Text 15"/>
          <p:cNvSpPr/>
          <p:nvPr/>
        </p:nvSpPr>
        <p:spPr>
          <a:xfrm>
            <a:off x="3749040" y="210312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s-CR" sz="1000" noProof="0" dirty="0"/>
          </a:p>
        </p:txBody>
      </p:sp>
      <p:sp>
        <p:nvSpPr>
          <p:cNvPr id="18" name="Shape 16"/>
          <p:cNvSpPr/>
          <p:nvPr/>
        </p:nvSpPr>
        <p:spPr>
          <a:xfrm>
            <a:off x="3822192" y="1298448"/>
            <a:ext cx="155448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9" name="Shape 17"/>
          <p:cNvSpPr/>
          <p:nvPr/>
        </p:nvSpPr>
        <p:spPr>
          <a:xfrm>
            <a:off x="3822192" y="1298448"/>
            <a:ext cx="155448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0" name="Text 18"/>
          <p:cNvSpPr/>
          <p:nvPr/>
        </p:nvSpPr>
        <p:spPr>
          <a:xfrm>
            <a:off x="3822192" y="138988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000" b="1" noProof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s-CR" sz="1000" noProof="0" dirty="0"/>
          </a:p>
        </p:txBody>
      </p:sp>
      <p:sp>
        <p:nvSpPr>
          <p:cNvPr id="21" name="Text 19"/>
          <p:cNvSpPr/>
          <p:nvPr/>
        </p:nvSpPr>
        <p:spPr>
          <a:xfrm>
            <a:off x="3822192" y="1737360"/>
            <a:ext cx="1554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CR" sz="1000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r>
              <a:rPr lang="es-CR" sz="100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SQL</a:t>
            </a:r>
            <a:endParaRPr lang="es-CR" sz="1000" noProof="0" dirty="0"/>
          </a:p>
          <a:p>
            <a:pPr marL="0" indent="0" algn="ctr">
              <a:buNone/>
            </a:pPr>
            <a:r>
              <a:rPr lang="es-CR" sz="100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+ Transformación</a:t>
            </a:r>
            <a:endParaRPr lang="es-CR" sz="1000" noProof="0" dirty="0"/>
          </a:p>
        </p:txBody>
      </p:sp>
      <p:sp>
        <p:nvSpPr>
          <p:cNvPr id="22" name="Shape 20"/>
          <p:cNvSpPr/>
          <p:nvPr/>
        </p:nvSpPr>
        <p:spPr>
          <a:xfrm>
            <a:off x="5394960" y="2212848"/>
            <a:ext cx="128016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3" name="Text 21"/>
          <p:cNvSpPr/>
          <p:nvPr/>
        </p:nvSpPr>
        <p:spPr>
          <a:xfrm>
            <a:off x="5468112" y="210312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s-CR" sz="1000" noProof="0" dirty="0"/>
          </a:p>
        </p:txBody>
      </p:sp>
      <p:sp>
        <p:nvSpPr>
          <p:cNvPr id="24" name="Shape 22"/>
          <p:cNvSpPr/>
          <p:nvPr/>
        </p:nvSpPr>
        <p:spPr>
          <a:xfrm>
            <a:off x="5541264" y="1298448"/>
            <a:ext cx="155448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5" name="Shape 23"/>
          <p:cNvSpPr/>
          <p:nvPr/>
        </p:nvSpPr>
        <p:spPr>
          <a:xfrm>
            <a:off x="5541264" y="1298448"/>
            <a:ext cx="15544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6" name="Text 24"/>
          <p:cNvSpPr/>
          <p:nvPr/>
        </p:nvSpPr>
        <p:spPr>
          <a:xfrm>
            <a:off x="5541264" y="138988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0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s-CR" sz="1000" noProof="0" dirty="0"/>
          </a:p>
        </p:txBody>
      </p:sp>
      <p:sp>
        <p:nvSpPr>
          <p:cNvPr id="27" name="Text 25"/>
          <p:cNvSpPr/>
          <p:nvPr/>
        </p:nvSpPr>
        <p:spPr>
          <a:xfrm>
            <a:off x="5541264" y="1737360"/>
            <a:ext cx="1554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CR" sz="1000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r>
              <a:rPr lang="es-CR" sz="100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R" sz="1000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s-CR" sz="1000" noProof="0" dirty="0"/>
          </a:p>
          <a:p>
            <a:pPr marL="0" indent="0" algn="ctr">
              <a:buNone/>
            </a:pPr>
            <a:r>
              <a:rPr lang="es-CR" sz="100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tablas nativas</a:t>
            </a:r>
            <a:endParaRPr lang="es-CR" sz="1000" noProof="0" dirty="0"/>
          </a:p>
        </p:txBody>
      </p:sp>
      <p:sp>
        <p:nvSpPr>
          <p:cNvPr id="28" name="Shape 26"/>
          <p:cNvSpPr/>
          <p:nvPr/>
        </p:nvSpPr>
        <p:spPr>
          <a:xfrm>
            <a:off x="7114032" y="2212848"/>
            <a:ext cx="128016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9" name="Text 27"/>
          <p:cNvSpPr/>
          <p:nvPr/>
        </p:nvSpPr>
        <p:spPr>
          <a:xfrm>
            <a:off x="7187184" y="210312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s-CR" sz="1000" noProof="0" dirty="0"/>
          </a:p>
        </p:txBody>
      </p:sp>
      <p:sp>
        <p:nvSpPr>
          <p:cNvPr id="30" name="Shape 28"/>
          <p:cNvSpPr/>
          <p:nvPr/>
        </p:nvSpPr>
        <p:spPr>
          <a:xfrm>
            <a:off x="7260336" y="1298448"/>
            <a:ext cx="155448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1" name="Shape 29"/>
          <p:cNvSpPr/>
          <p:nvPr/>
        </p:nvSpPr>
        <p:spPr>
          <a:xfrm>
            <a:off x="7260336" y="1298448"/>
            <a:ext cx="15544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2" name="Text 30"/>
          <p:cNvSpPr/>
          <p:nvPr/>
        </p:nvSpPr>
        <p:spPr>
          <a:xfrm>
            <a:off x="7260336" y="138988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000" b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s-CR" sz="1000" noProof="0" dirty="0"/>
          </a:p>
        </p:txBody>
      </p:sp>
      <p:sp>
        <p:nvSpPr>
          <p:cNvPr id="33" name="Text 31"/>
          <p:cNvSpPr/>
          <p:nvPr/>
        </p:nvSpPr>
        <p:spPr>
          <a:xfrm>
            <a:off x="7260336" y="1737360"/>
            <a:ext cx="1554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CR" sz="100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</a:t>
            </a:r>
            <a:r>
              <a:rPr lang="es-CR" sz="1000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</a:t>
            </a:r>
            <a:endParaRPr lang="es-CR" sz="1000" noProof="0" dirty="0"/>
          </a:p>
          <a:p>
            <a:pPr marL="0" indent="0" algn="ctr">
              <a:buNone/>
            </a:pPr>
            <a:r>
              <a:rPr lang="es-CR" sz="1000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r>
              <a:rPr lang="es-CR" sz="100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s-CR" sz="1000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s-CR" sz="1000" noProof="0" dirty="0"/>
          </a:p>
        </p:txBody>
      </p:sp>
      <p:sp>
        <p:nvSpPr>
          <p:cNvPr id="34" name="Text 32"/>
          <p:cNvSpPr/>
          <p:nvPr/>
        </p:nvSpPr>
        <p:spPr>
          <a:xfrm>
            <a:off x="384048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300" b="1" noProof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Utilizados</a:t>
            </a:r>
            <a:endParaRPr lang="es-CR" sz="1300" noProof="0" dirty="0"/>
          </a:p>
        </p:txBody>
      </p:sp>
      <p:sp>
        <p:nvSpPr>
          <p:cNvPr id="35" name="Shape 33"/>
          <p:cNvSpPr/>
          <p:nvPr/>
        </p:nvSpPr>
        <p:spPr>
          <a:xfrm>
            <a:off x="384048" y="3858768"/>
            <a:ext cx="201168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6" name="Text 34"/>
          <p:cNvSpPr/>
          <p:nvPr/>
        </p:nvSpPr>
        <p:spPr>
          <a:xfrm>
            <a:off x="429768" y="38587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000" b="1" noProof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GCP</a:t>
            </a:r>
            <a:endParaRPr lang="es-CR" sz="1000" noProof="0" dirty="0"/>
          </a:p>
        </p:txBody>
      </p:sp>
      <p:sp>
        <p:nvSpPr>
          <p:cNvPr id="37" name="Shape 35"/>
          <p:cNvSpPr/>
          <p:nvPr/>
        </p:nvSpPr>
        <p:spPr>
          <a:xfrm>
            <a:off x="2423160" y="3858768"/>
            <a:ext cx="365760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8" name="Text 36"/>
          <p:cNvSpPr/>
          <p:nvPr/>
        </p:nvSpPr>
        <p:spPr>
          <a:xfrm>
            <a:off x="2468880" y="38587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000" b="1" noProof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s-CR" sz="1000" noProof="0" dirty="0"/>
          </a:p>
        </p:txBody>
      </p:sp>
      <p:sp>
        <p:nvSpPr>
          <p:cNvPr id="39" name="Shape 37"/>
          <p:cNvSpPr/>
          <p:nvPr/>
        </p:nvSpPr>
        <p:spPr>
          <a:xfrm>
            <a:off x="6108192" y="3858768"/>
            <a:ext cx="182880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0" name="Text 38"/>
          <p:cNvSpPr/>
          <p:nvPr/>
        </p:nvSpPr>
        <p:spPr>
          <a:xfrm>
            <a:off x="6153912" y="3858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000" b="1" noProof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</a:t>
            </a:r>
            <a:endParaRPr lang="es-CR" sz="1000" noProof="0" dirty="0"/>
          </a:p>
        </p:txBody>
      </p:sp>
      <p:sp>
        <p:nvSpPr>
          <p:cNvPr id="41" name="Shape 39"/>
          <p:cNvSpPr/>
          <p:nvPr/>
        </p:nvSpPr>
        <p:spPr>
          <a:xfrm>
            <a:off x="384048" y="4114800"/>
            <a:ext cx="2011680" cy="228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2" name="Text 40"/>
          <p:cNvSpPr/>
          <p:nvPr/>
        </p:nvSpPr>
        <p:spPr>
          <a:xfrm>
            <a:off x="429768" y="413308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95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s-CR" sz="950" noProof="0" dirty="0"/>
          </a:p>
        </p:txBody>
      </p:sp>
      <p:sp>
        <p:nvSpPr>
          <p:cNvPr id="43" name="Shape 41"/>
          <p:cNvSpPr/>
          <p:nvPr/>
        </p:nvSpPr>
        <p:spPr>
          <a:xfrm>
            <a:off x="2423160" y="4114800"/>
            <a:ext cx="3657600" cy="228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4" name="Text 42"/>
          <p:cNvSpPr/>
          <p:nvPr/>
        </p:nvSpPr>
        <p:spPr>
          <a:xfrm>
            <a:off x="2468880" y="413308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95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(raw/</a:t>
            </a:r>
            <a:r>
              <a:rPr lang="es-CR" sz="950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r>
              <a:rPr lang="es-CR" sz="95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s-CR" sz="950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r>
              <a:rPr lang="es-CR" sz="95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s-CR" sz="950" noProof="0" dirty="0"/>
          </a:p>
        </p:txBody>
      </p:sp>
      <p:sp>
        <p:nvSpPr>
          <p:cNvPr id="45" name="Shape 43"/>
          <p:cNvSpPr/>
          <p:nvPr/>
        </p:nvSpPr>
        <p:spPr>
          <a:xfrm>
            <a:off x="6108192" y="4114800"/>
            <a:ext cx="1828800" cy="228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6" name="Text 44"/>
          <p:cNvSpPr/>
          <p:nvPr/>
        </p:nvSpPr>
        <p:spPr>
          <a:xfrm>
            <a:off x="6153912" y="413308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95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</a:t>
            </a:r>
            <a:endParaRPr lang="es-CR" sz="950" noProof="0" dirty="0"/>
          </a:p>
        </p:txBody>
      </p:sp>
      <p:sp>
        <p:nvSpPr>
          <p:cNvPr id="47" name="Shape 45"/>
          <p:cNvSpPr/>
          <p:nvPr/>
        </p:nvSpPr>
        <p:spPr>
          <a:xfrm>
            <a:off x="384048" y="4352544"/>
            <a:ext cx="2011680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8" name="Text 46"/>
          <p:cNvSpPr/>
          <p:nvPr/>
        </p:nvSpPr>
        <p:spPr>
          <a:xfrm>
            <a:off x="429768" y="437083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950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s-CR" sz="950" noProof="0" dirty="0"/>
          </a:p>
        </p:txBody>
      </p:sp>
      <p:sp>
        <p:nvSpPr>
          <p:cNvPr id="49" name="Shape 47"/>
          <p:cNvSpPr/>
          <p:nvPr/>
        </p:nvSpPr>
        <p:spPr>
          <a:xfrm>
            <a:off x="2423160" y="4352544"/>
            <a:ext cx="3657600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50" name="Text 48"/>
          <p:cNvSpPr/>
          <p:nvPr/>
        </p:nvSpPr>
        <p:spPr>
          <a:xfrm>
            <a:off x="2468880" y="437083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95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SQL analítico + Base de datos</a:t>
            </a:r>
            <a:endParaRPr lang="es-CR" sz="950" noProof="0" dirty="0"/>
          </a:p>
        </p:txBody>
      </p:sp>
      <p:sp>
        <p:nvSpPr>
          <p:cNvPr id="51" name="Shape 49"/>
          <p:cNvSpPr/>
          <p:nvPr/>
        </p:nvSpPr>
        <p:spPr>
          <a:xfrm>
            <a:off x="6108192" y="4352544"/>
            <a:ext cx="1828800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52" name="Text 50"/>
          <p:cNvSpPr/>
          <p:nvPr/>
        </p:nvSpPr>
        <p:spPr>
          <a:xfrm>
            <a:off x="6153912" y="437083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95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+ BD</a:t>
            </a:r>
            <a:endParaRPr lang="es-CR" sz="950" noProof="0" dirty="0"/>
          </a:p>
        </p:txBody>
      </p:sp>
      <p:sp>
        <p:nvSpPr>
          <p:cNvPr id="53" name="Shape 51"/>
          <p:cNvSpPr/>
          <p:nvPr/>
        </p:nvSpPr>
        <p:spPr>
          <a:xfrm>
            <a:off x="384048" y="4590288"/>
            <a:ext cx="2011680" cy="228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54" name="Text 52"/>
          <p:cNvSpPr/>
          <p:nvPr/>
        </p:nvSpPr>
        <p:spPr>
          <a:xfrm>
            <a:off x="429768" y="460857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95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</a:t>
            </a:r>
            <a:r>
              <a:rPr lang="es-CR" sz="950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</a:t>
            </a:r>
            <a:endParaRPr lang="es-CR" sz="950" noProof="0" dirty="0"/>
          </a:p>
        </p:txBody>
      </p:sp>
      <p:sp>
        <p:nvSpPr>
          <p:cNvPr id="55" name="Shape 53"/>
          <p:cNvSpPr/>
          <p:nvPr/>
        </p:nvSpPr>
        <p:spPr>
          <a:xfrm>
            <a:off x="2423160" y="4590288"/>
            <a:ext cx="3657600" cy="228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56" name="Text 54"/>
          <p:cNvSpPr/>
          <p:nvPr/>
        </p:nvSpPr>
        <p:spPr>
          <a:xfrm>
            <a:off x="2468880" y="460857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95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con Python</a:t>
            </a:r>
            <a:endParaRPr lang="es-CR" sz="950" noProof="0" dirty="0"/>
          </a:p>
        </p:txBody>
      </p:sp>
      <p:sp>
        <p:nvSpPr>
          <p:cNvPr id="57" name="Shape 55"/>
          <p:cNvSpPr/>
          <p:nvPr/>
        </p:nvSpPr>
        <p:spPr>
          <a:xfrm>
            <a:off x="6108192" y="4590288"/>
            <a:ext cx="1828800" cy="228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58" name="Text 56"/>
          <p:cNvSpPr/>
          <p:nvPr/>
        </p:nvSpPr>
        <p:spPr>
          <a:xfrm>
            <a:off x="6153912" y="460857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95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</a:t>
            </a:r>
            <a:endParaRPr lang="es-CR" sz="950" noProof="0" dirty="0"/>
          </a:p>
        </p:txBody>
      </p:sp>
      <p:sp>
        <p:nvSpPr>
          <p:cNvPr id="59" name="Shape 57"/>
          <p:cNvSpPr/>
          <p:nvPr/>
        </p:nvSpPr>
        <p:spPr>
          <a:xfrm>
            <a:off x="384048" y="4828032"/>
            <a:ext cx="2011680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60" name="Text 58"/>
          <p:cNvSpPr/>
          <p:nvPr/>
        </p:nvSpPr>
        <p:spPr>
          <a:xfrm>
            <a:off x="429768" y="48463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95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</a:t>
            </a:r>
            <a:r>
              <a:rPr lang="es-CR" sz="950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s-CR" sz="950" noProof="0" dirty="0"/>
          </a:p>
        </p:txBody>
      </p:sp>
      <p:sp>
        <p:nvSpPr>
          <p:cNvPr id="61" name="Shape 59"/>
          <p:cNvSpPr/>
          <p:nvPr/>
        </p:nvSpPr>
        <p:spPr>
          <a:xfrm>
            <a:off x="2423160" y="4828032"/>
            <a:ext cx="3657600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62" name="Text 60"/>
          <p:cNvSpPr/>
          <p:nvPr/>
        </p:nvSpPr>
        <p:spPr>
          <a:xfrm>
            <a:off x="2468880" y="484632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95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 del pipeline</a:t>
            </a:r>
            <a:endParaRPr lang="es-CR" sz="950" noProof="0" dirty="0"/>
          </a:p>
        </p:txBody>
      </p:sp>
      <p:sp>
        <p:nvSpPr>
          <p:cNvPr id="63" name="Shape 61"/>
          <p:cNvSpPr/>
          <p:nvPr/>
        </p:nvSpPr>
        <p:spPr>
          <a:xfrm>
            <a:off x="6108192" y="4828032"/>
            <a:ext cx="1828800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64" name="Text 62"/>
          <p:cNvSpPr/>
          <p:nvPr/>
        </p:nvSpPr>
        <p:spPr>
          <a:xfrm>
            <a:off x="6153912" y="484632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95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</a:t>
            </a:r>
            <a:endParaRPr lang="es-CR" sz="95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" name="Text 1"/>
          <p:cNvSpPr/>
          <p:nvPr/>
        </p:nvSpPr>
        <p:spPr>
          <a:xfrm>
            <a:off x="384048" y="182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200" b="1" noProof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s-CR" sz="1200" noProof="0" dirty="0"/>
          </a:p>
        </p:txBody>
      </p:sp>
      <p:sp>
        <p:nvSpPr>
          <p:cNvPr id="4" name="Text 2"/>
          <p:cNvSpPr/>
          <p:nvPr/>
        </p:nvSpPr>
        <p:spPr>
          <a:xfrm>
            <a:off x="384048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32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Automatizado</a:t>
            </a:r>
            <a:endParaRPr lang="es-C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384048" y="1143000"/>
            <a:ext cx="2697480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6" name="Shape 4"/>
          <p:cNvSpPr/>
          <p:nvPr/>
        </p:nvSpPr>
        <p:spPr>
          <a:xfrm>
            <a:off x="384048" y="1143000"/>
            <a:ext cx="269748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7" name="Text 5"/>
          <p:cNvSpPr/>
          <p:nvPr/>
        </p:nvSpPr>
        <p:spPr>
          <a:xfrm>
            <a:off x="493776" y="1234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900" b="1" noProof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0</a:t>
            </a:r>
            <a:endParaRPr lang="es-C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493776" y="144475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4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</a:t>
            </a:r>
            <a:endParaRPr lang="es-CR" sz="1400" noProof="0" dirty="0"/>
          </a:p>
        </p:txBody>
      </p:sp>
      <p:sp>
        <p:nvSpPr>
          <p:cNvPr id="9" name="Text 7"/>
          <p:cNvSpPr/>
          <p:nvPr/>
        </p:nvSpPr>
        <p:spPr>
          <a:xfrm>
            <a:off x="493776" y="176479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los 3 archivos </a:t>
            </a:r>
            <a:r>
              <a:rPr lang="es-CR" sz="105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r>
              <a:rPr lang="es-C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desde GCS y los carga a </a:t>
            </a:r>
            <a:r>
              <a:rPr lang="es-CR" sz="105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r>
              <a:rPr lang="es-C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s-CR" sz="105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LoadJobConfig</a:t>
            </a:r>
            <a:r>
              <a:rPr lang="es-C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CR" sz="1050" noProof="0" dirty="0"/>
          </a:p>
        </p:txBody>
      </p:sp>
      <p:sp>
        <p:nvSpPr>
          <p:cNvPr id="10" name="Shape 8"/>
          <p:cNvSpPr/>
          <p:nvPr/>
        </p:nvSpPr>
        <p:spPr>
          <a:xfrm>
            <a:off x="3264408" y="1143000"/>
            <a:ext cx="2697480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11" name="Shape 9"/>
          <p:cNvSpPr/>
          <p:nvPr/>
        </p:nvSpPr>
        <p:spPr>
          <a:xfrm>
            <a:off x="3264408" y="1143000"/>
            <a:ext cx="269748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2" name="Text 10"/>
          <p:cNvSpPr/>
          <p:nvPr/>
        </p:nvSpPr>
        <p:spPr>
          <a:xfrm>
            <a:off x="3374136" y="1234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900" b="1" noProof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</a:t>
            </a:r>
            <a:endParaRPr lang="es-CR" sz="900" noProof="0" dirty="0"/>
          </a:p>
        </p:txBody>
      </p:sp>
      <p:sp>
        <p:nvSpPr>
          <p:cNvPr id="13" name="Text 11"/>
          <p:cNvSpPr/>
          <p:nvPr/>
        </p:nvSpPr>
        <p:spPr>
          <a:xfrm>
            <a:off x="3374136" y="144475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4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&amp; </a:t>
            </a:r>
            <a:r>
              <a:rPr lang="es-CR" sz="1400" b="1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r>
              <a:rPr lang="es-CR" sz="14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CR" sz="1400" noProof="0" dirty="0"/>
          </a:p>
        </p:txBody>
      </p:sp>
      <p:sp>
        <p:nvSpPr>
          <p:cNvPr id="14" name="Text 12"/>
          <p:cNvSpPr/>
          <p:nvPr/>
        </p:nvSpPr>
        <p:spPr>
          <a:xfrm>
            <a:off x="3374136" y="176479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registros inválidos y genera 6 columnas derivadas: duración, hora, fecha, día semana, pago, distancia.</a:t>
            </a:r>
            <a:endParaRPr lang="es-CR" sz="1050" noProof="0" dirty="0"/>
          </a:p>
        </p:txBody>
      </p:sp>
      <p:sp>
        <p:nvSpPr>
          <p:cNvPr id="15" name="Shape 13"/>
          <p:cNvSpPr/>
          <p:nvPr/>
        </p:nvSpPr>
        <p:spPr>
          <a:xfrm>
            <a:off x="6144768" y="1143000"/>
            <a:ext cx="2697480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16" name="Shape 14"/>
          <p:cNvSpPr/>
          <p:nvPr/>
        </p:nvSpPr>
        <p:spPr>
          <a:xfrm>
            <a:off x="6144768" y="1143000"/>
            <a:ext cx="269748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7" name="Text 15"/>
          <p:cNvSpPr/>
          <p:nvPr/>
        </p:nvSpPr>
        <p:spPr>
          <a:xfrm>
            <a:off x="6254496" y="1234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900" b="1" noProof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</a:t>
            </a:r>
            <a:endParaRPr lang="es-CR" sz="900" noProof="0" dirty="0"/>
          </a:p>
        </p:txBody>
      </p:sp>
      <p:sp>
        <p:nvSpPr>
          <p:cNvPr id="18" name="Text 16"/>
          <p:cNvSpPr/>
          <p:nvPr/>
        </p:nvSpPr>
        <p:spPr>
          <a:xfrm>
            <a:off x="6254496" y="144475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4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Agregación SQL</a:t>
            </a:r>
            <a:endParaRPr lang="es-CR" sz="1400" noProof="0" dirty="0"/>
          </a:p>
        </p:txBody>
      </p:sp>
      <p:sp>
        <p:nvSpPr>
          <p:cNvPr id="19" name="Text 17"/>
          <p:cNvSpPr/>
          <p:nvPr/>
        </p:nvSpPr>
        <p:spPr>
          <a:xfrm>
            <a:off x="6254496" y="176479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3 tablas: viajes por hora, top 10 zonas y propina por distancia para responder preguntas analíticas.</a:t>
            </a:r>
            <a:endParaRPr lang="es-CR" sz="1050" noProof="0" dirty="0"/>
          </a:p>
        </p:txBody>
      </p:sp>
      <p:sp>
        <p:nvSpPr>
          <p:cNvPr id="20" name="Shape 18"/>
          <p:cNvSpPr/>
          <p:nvPr/>
        </p:nvSpPr>
        <p:spPr>
          <a:xfrm>
            <a:off x="384048" y="2971800"/>
            <a:ext cx="2697480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21" name="Shape 19"/>
          <p:cNvSpPr/>
          <p:nvPr/>
        </p:nvSpPr>
        <p:spPr>
          <a:xfrm>
            <a:off x="384048" y="2971800"/>
            <a:ext cx="269748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2" name="Text 20"/>
          <p:cNvSpPr/>
          <p:nvPr/>
        </p:nvSpPr>
        <p:spPr>
          <a:xfrm>
            <a:off x="493776" y="3063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9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</a:t>
            </a:r>
            <a:endParaRPr lang="es-CR" sz="900" noProof="0" dirty="0"/>
          </a:p>
        </p:txBody>
      </p:sp>
      <p:sp>
        <p:nvSpPr>
          <p:cNvPr id="23" name="Text 21"/>
          <p:cNvSpPr/>
          <p:nvPr/>
        </p:nvSpPr>
        <p:spPr>
          <a:xfrm>
            <a:off x="493776" y="327355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4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</a:t>
            </a:r>
            <a:endParaRPr lang="es-CR" sz="1400" noProof="0" dirty="0"/>
          </a:p>
        </p:txBody>
      </p:sp>
      <p:sp>
        <p:nvSpPr>
          <p:cNvPr id="24" name="Text 22"/>
          <p:cNvSpPr/>
          <p:nvPr/>
        </p:nvSpPr>
        <p:spPr>
          <a:xfrm>
            <a:off x="493776" y="359359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 </a:t>
            </a:r>
            <a:r>
              <a:rPr lang="es-CR" sz="105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yellow_trips_clean</a:t>
            </a:r>
            <a:r>
              <a:rPr lang="es-C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s-CR" sz="105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r>
              <a:rPr lang="es-C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y las 3 tablas de resultados a </a:t>
            </a:r>
            <a:r>
              <a:rPr lang="es-CR" sz="105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r>
              <a:rPr lang="es-C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en formato </a:t>
            </a:r>
            <a:r>
              <a:rPr lang="es-CR" sz="105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r>
              <a:rPr lang="es-C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CR" sz="1050" noProof="0" dirty="0"/>
          </a:p>
        </p:txBody>
      </p:sp>
      <p:sp>
        <p:nvSpPr>
          <p:cNvPr id="25" name="Shape 23"/>
          <p:cNvSpPr/>
          <p:nvPr/>
        </p:nvSpPr>
        <p:spPr>
          <a:xfrm>
            <a:off x="3264408" y="2971800"/>
            <a:ext cx="2697480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26" name="Shape 24"/>
          <p:cNvSpPr/>
          <p:nvPr/>
        </p:nvSpPr>
        <p:spPr>
          <a:xfrm>
            <a:off x="3264408" y="2971800"/>
            <a:ext cx="26974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7" name="Text 25"/>
          <p:cNvSpPr/>
          <p:nvPr/>
        </p:nvSpPr>
        <p:spPr>
          <a:xfrm>
            <a:off x="3374136" y="3063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900" b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</a:t>
            </a:r>
            <a:endParaRPr lang="es-CR" sz="900" noProof="0" dirty="0"/>
          </a:p>
        </p:txBody>
      </p:sp>
      <p:sp>
        <p:nvSpPr>
          <p:cNvPr id="28" name="Text 26"/>
          <p:cNvSpPr/>
          <p:nvPr/>
        </p:nvSpPr>
        <p:spPr>
          <a:xfrm>
            <a:off x="3374136" y="327355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4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</a:t>
            </a:r>
            <a:endParaRPr lang="es-CR" sz="1400" noProof="0" dirty="0"/>
          </a:p>
        </p:txBody>
      </p:sp>
      <p:sp>
        <p:nvSpPr>
          <p:cNvPr id="29" name="Text 27"/>
          <p:cNvSpPr/>
          <p:nvPr/>
        </p:nvSpPr>
        <p:spPr>
          <a:xfrm>
            <a:off x="3374136" y="359359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</a:t>
            </a:r>
            <a:r>
              <a:rPr lang="es-CR" sz="105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</a:t>
            </a:r>
            <a:r>
              <a:rPr lang="es-C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s-CR" sz="105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r>
              <a:rPr lang="es-C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genera 3 gráficas con </a:t>
            </a:r>
            <a:r>
              <a:rPr lang="es-CR" sz="105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r>
              <a:rPr lang="es-C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s-CR" sz="105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r>
              <a:rPr lang="es-C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las sube automáticamente a GCS.</a:t>
            </a:r>
            <a:endParaRPr lang="es-CR" sz="1050" noProof="0" dirty="0"/>
          </a:p>
        </p:txBody>
      </p:sp>
      <p:sp>
        <p:nvSpPr>
          <p:cNvPr id="30" name="Shape 28"/>
          <p:cNvSpPr/>
          <p:nvPr/>
        </p:nvSpPr>
        <p:spPr>
          <a:xfrm>
            <a:off x="6144768" y="2971800"/>
            <a:ext cx="2697480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31" name="Shape 29"/>
          <p:cNvSpPr/>
          <p:nvPr/>
        </p:nvSpPr>
        <p:spPr>
          <a:xfrm>
            <a:off x="6144768" y="2971800"/>
            <a:ext cx="2697480" cy="457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2" name="Text 30"/>
          <p:cNvSpPr/>
          <p:nvPr/>
        </p:nvSpPr>
        <p:spPr>
          <a:xfrm>
            <a:off x="6254496" y="3063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900" b="1" noProof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</a:t>
            </a:r>
            <a:endParaRPr lang="es-CR" sz="900" noProof="0" dirty="0"/>
          </a:p>
        </p:txBody>
      </p:sp>
      <p:sp>
        <p:nvSpPr>
          <p:cNvPr id="33" name="Text 31"/>
          <p:cNvSpPr/>
          <p:nvPr/>
        </p:nvSpPr>
        <p:spPr>
          <a:xfrm>
            <a:off x="6254496" y="327355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4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Subida a GCS</a:t>
            </a:r>
            <a:endParaRPr lang="es-CR" sz="1400" noProof="0" dirty="0"/>
          </a:p>
        </p:txBody>
      </p:sp>
      <p:sp>
        <p:nvSpPr>
          <p:cNvPr id="34" name="Text 32"/>
          <p:cNvSpPr/>
          <p:nvPr/>
        </p:nvSpPr>
        <p:spPr>
          <a:xfrm>
            <a:off x="6254496" y="359359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gráficas PNG son subidas a </a:t>
            </a:r>
            <a:r>
              <a:rPr lang="es-CR" sz="105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r>
              <a:rPr lang="es-C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completando el flujo de extremo a extremo sin intervención manual.</a:t>
            </a:r>
            <a:endParaRPr lang="es-CR" sz="1050" noProof="0" dirty="0"/>
          </a:p>
        </p:txBody>
      </p:sp>
      <p:sp>
        <p:nvSpPr>
          <p:cNvPr id="35" name="Text 33"/>
          <p:cNvSpPr/>
          <p:nvPr/>
        </p:nvSpPr>
        <p:spPr>
          <a:xfrm>
            <a:off x="384048" y="482803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s-CR" sz="10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" name="Text 1"/>
          <p:cNvSpPr/>
          <p:nvPr/>
        </p:nvSpPr>
        <p:spPr>
          <a:xfrm>
            <a:off x="384048" y="182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200" b="1" noProof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s-CR" sz="1200" noProof="0" dirty="0"/>
          </a:p>
        </p:txBody>
      </p:sp>
      <p:sp>
        <p:nvSpPr>
          <p:cNvPr id="4" name="Text 2"/>
          <p:cNvSpPr/>
          <p:nvPr/>
        </p:nvSpPr>
        <p:spPr>
          <a:xfrm>
            <a:off x="384048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30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SQL en </a:t>
            </a:r>
            <a:r>
              <a:rPr lang="es-CR" sz="3000" b="1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s-CR" sz="3000" noProof="0" dirty="0"/>
          </a:p>
        </p:txBody>
      </p:sp>
      <p:sp>
        <p:nvSpPr>
          <p:cNvPr id="5" name="Text 3"/>
          <p:cNvSpPr/>
          <p:nvPr/>
        </p:nvSpPr>
        <p:spPr>
          <a:xfrm>
            <a:off x="384048" y="8961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11,599,258 registros limpios — 6 transformaciones aplicadas</a:t>
            </a:r>
            <a:endParaRPr lang="es-CR" sz="1200" noProof="0" dirty="0"/>
          </a:p>
        </p:txBody>
      </p:sp>
      <p:sp>
        <p:nvSpPr>
          <p:cNvPr id="6" name="Text 4"/>
          <p:cNvSpPr/>
          <p:nvPr/>
        </p:nvSpPr>
        <p:spPr>
          <a:xfrm>
            <a:off x="384048" y="12618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300" b="1" noProof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Transformaciones SQL Aplicadas</a:t>
            </a:r>
            <a:endParaRPr lang="es-CR" sz="1300" noProof="0" dirty="0"/>
          </a:p>
        </p:txBody>
      </p:sp>
      <p:sp>
        <p:nvSpPr>
          <p:cNvPr id="7" name="Shape 5"/>
          <p:cNvSpPr/>
          <p:nvPr/>
        </p:nvSpPr>
        <p:spPr>
          <a:xfrm>
            <a:off x="384048" y="1618488"/>
            <a:ext cx="41148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8" name="Shape 6"/>
          <p:cNvSpPr/>
          <p:nvPr/>
        </p:nvSpPr>
        <p:spPr>
          <a:xfrm>
            <a:off x="384048" y="1618488"/>
            <a:ext cx="502920" cy="457200"/>
          </a:xfrm>
          <a:prstGeom prst="rect">
            <a:avLst/>
          </a:prstGeom>
          <a:solidFill>
            <a:srgbClr val="0EA5E9">
              <a:alpha val="70000"/>
            </a:srgbClr>
          </a:solidFill>
          <a:ln w="12700">
            <a:solidFill>
              <a:srgbClr val="0EA5E9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9" name="Text 7"/>
          <p:cNvSpPr/>
          <p:nvPr/>
        </p:nvSpPr>
        <p:spPr>
          <a:xfrm>
            <a:off x="384048" y="16184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1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s-CR" sz="1100" noProof="0" dirty="0"/>
          </a:p>
        </p:txBody>
      </p:sp>
      <p:sp>
        <p:nvSpPr>
          <p:cNvPr id="10" name="Text 8"/>
          <p:cNvSpPr/>
          <p:nvPr/>
        </p:nvSpPr>
        <p:spPr>
          <a:xfrm>
            <a:off x="932688" y="165506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del viaje en minutos</a:t>
            </a:r>
            <a:endParaRPr lang="es-CR" sz="1100" noProof="0" dirty="0"/>
          </a:p>
        </p:txBody>
      </p:sp>
      <p:sp>
        <p:nvSpPr>
          <p:cNvPr id="11" name="Text 9"/>
          <p:cNvSpPr/>
          <p:nvPr/>
        </p:nvSpPr>
        <p:spPr>
          <a:xfrm>
            <a:off x="932688" y="184708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9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TIMESTAMP_DIFF(</a:t>
            </a:r>
            <a:r>
              <a:rPr lang="es-CR" sz="900" i="1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dropoff</a:t>
            </a:r>
            <a:r>
              <a:rPr lang="es-CR" sz="9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pickup, MINUTE)</a:t>
            </a:r>
            <a:endParaRPr lang="es-CR" sz="900" noProof="0" dirty="0"/>
          </a:p>
        </p:txBody>
      </p:sp>
      <p:sp>
        <p:nvSpPr>
          <p:cNvPr id="12" name="Shape 10"/>
          <p:cNvSpPr/>
          <p:nvPr/>
        </p:nvSpPr>
        <p:spPr>
          <a:xfrm>
            <a:off x="384048" y="2167128"/>
            <a:ext cx="41148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3" name="Shape 11"/>
          <p:cNvSpPr/>
          <p:nvPr/>
        </p:nvSpPr>
        <p:spPr>
          <a:xfrm>
            <a:off x="384048" y="2167128"/>
            <a:ext cx="502920" cy="457200"/>
          </a:xfrm>
          <a:prstGeom prst="rect">
            <a:avLst/>
          </a:prstGeom>
          <a:solidFill>
            <a:srgbClr val="0EA5E9">
              <a:alpha val="70000"/>
            </a:srgbClr>
          </a:solidFill>
          <a:ln w="12700">
            <a:solidFill>
              <a:srgbClr val="0EA5E9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4" name="Text 12"/>
          <p:cNvSpPr/>
          <p:nvPr/>
        </p:nvSpPr>
        <p:spPr>
          <a:xfrm>
            <a:off x="384048" y="21671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1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s-CR" sz="1100" noProof="0" dirty="0"/>
          </a:p>
        </p:txBody>
      </p:sp>
      <p:sp>
        <p:nvSpPr>
          <p:cNvPr id="15" name="Text 13"/>
          <p:cNvSpPr/>
          <p:nvPr/>
        </p:nvSpPr>
        <p:spPr>
          <a:xfrm>
            <a:off x="932688" y="220370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de recogida (0–23)</a:t>
            </a:r>
            <a:endParaRPr lang="es-CR" sz="1100" noProof="0" dirty="0"/>
          </a:p>
        </p:txBody>
      </p:sp>
      <p:sp>
        <p:nvSpPr>
          <p:cNvPr id="16" name="Text 14"/>
          <p:cNvSpPr/>
          <p:nvPr/>
        </p:nvSpPr>
        <p:spPr>
          <a:xfrm>
            <a:off x="932688" y="239572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9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EXTRACT(HOUR FROM </a:t>
            </a:r>
            <a:r>
              <a:rPr lang="es-CR" sz="900" i="1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tpep_pickup_datetime</a:t>
            </a:r>
            <a:r>
              <a:rPr lang="es-CR" sz="9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s-CR" sz="900" noProof="0" dirty="0"/>
          </a:p>
        </p:txBody>
      </p:sp>
      <p:sp>
        <p:nvSpPr>
          <p:cNvPr id="17" name="Shape 15"/>
          <p:cNvSpPr/>
          <p:nvPr/>
        </p:nvSpPr>
        <p:spPr>
          <a:xfrm>
            <a:off x="384048" y="2715768"/>
            <a:ext cx="41148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8" name="Shape 16"/>
          <p:cNvSpPr/>
          <p:nvPr/>
        </p:nvSpPr>
        <p:spPr>
          <a:xfrm>
            <a:off x="384048" y="2715768"/>
            <a:ext cx="502920" cy="457200"/>
          </a:xfrm>
          <a:prstGeom prst="rect">
            <a:avLst/>
          </a:prstGeom>
          <a:solidFill>
            <a:srgbClr val="0EA5E9">
              <a:alpha val="70000"/>
            </a:srgbClr>
          </a:solidFill>
          <a:ln w="12700">
            <a:solidFill>
              <a:srgbClr val="0EA5E9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9" name="Text 17"/>
          <p:cNvSpPr/>
          <p:nvPr/>
        </p:nvSpPr>
        <p:spPr>
          <a:xfrm>
            <a:off x="384048" y="27157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1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s-CR" sz="1100" noProof="0" dirty="0"/>
          </a:p>
        </p:txBody>
      </p:sp>
      <p:sp>
        <p:nvSpPr>
          <p:cNvPr id="20" name="Text 18"/>
          <p:cNvSpPr/>
          <p:nvPr/>
        </p:nvSpPr>
        <p:spPr>
          <a:xfrm>
            <a:off x="932688" y="275234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de recogida</a:t>
            </a:r>
            <a:endParaRPr lang="es-CR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932688" y="294436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9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DATE(</a:t>
            </a:r>
            <a:r>
              <a:rPr lang="es-CR" sz="900" i="1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tpep_pickup_datetime</a:t>
            </a:r>
            <a:r>
              <a:rPr lang="es-CR" sz="9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s-CR" sz="900" noProof="0" dirty="0"/>
          </a:p>
        </p:txBody>
      </p:sp>
      <p:sp>
        <p:nvSpPr>
          <p:cNvPr id="22" name="Shape 20"/>
          <p:cNvSpPr/>
          <p:nvPr/>
        </p:nvSpPr>
        <p:spPr>
          <a:xfrm>
            <a:off x="384048" y="3264408"/>
            <a:ext cx="41148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3" name="Shape 21"/>
          <p:cNvSpPr/>
          <p:nvPr/>
        </p:nvSpPr>
        <p:spPr>
          <a:xfrm>
            <a:off x="384048" y="3264408"/>
            <a:ext cx="502920" cy="457200"/>
          </a:xfrm>
          <a:prstGeom prst="rect">
            <a:avLst/>
          </a:prstGeom>
          <a:solidFill>
            <a:srgbClr val="0EA5E9">
              <a:alpha val="70000"/>
            </a:srgbClr>
          </a:solidFill>
          <a:ln w="12700">
            <a:solidFill>
              <a:srgbClr val="0EA5E9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4" name="Text 22"/>
          <p:cNvSpPr/>
          <p:nvPr/>
        </p:nvSpPr>
        <p:spPr>
          <a:xfrm>
            <a:off x="384048" y="32644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1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s-CR" sz="1100" noProof="0" dirty="0"/>
          </a:p>
        </p:txBody>
      </p:sp>
      <p:sp>
        <p:nvSpPr>
          <p:cNvPr id="25" name="Text 23"/>
          <p:cNvSpPr/>
          <p:nvPr/>
        </p:nvSpPr>
        <p:spPr>
          <a:xfrm>
            <a:off x="932688" y="330098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de la semana</a:t>
            </a:r>
            <a:endParaRPr lang="es-CR" sz="1100" noProof="0" dirty="0"/>
          </a:p>
        </p:txBody>
      </p:sp>
      <p:sp>
        <p:nvSpPr>
          <p:cNvPr id="26" name="Text 24"/>
          <p:cNvSpPr/>
          <p:nvPr/>
        </p:nvSpPr>
        <p:spPr>
          <a:xfrm>
            <a:off x="932688" y="349300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9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EXTRACT(DAYOFWEEK) → 1=Dom, 7=Sáb</a:t>
            </a:r>
            <a:endParaRPr lang="es-CR" sz="900" noProof="0" dirty="0"/>
          </a:p>
        </p:txBody>
      </p:sp>
      <p:sp>
        <p:nvSpPr>
          <p:cNvPr id="27" name="Shape 25"/>
          <p:cNvSpPr/>
          <p:nvPr/>
        </p:nvSpPr>
        <p:spPr>
          <a:xfrm>
            <a:off x="384048" y="3813048"/>
            <a:ext cx="41148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8" name="Shape 26"/>
          <p:cNvSpPr/>
          <p:nvPr/>
        </p:nvSpPr>
        <p:spPr>
          <a:xfrm>
            <a:off x="384048" y="3813048"/>
            <a:ext cx="502920" cy="457200"/>
          </a:xfrm>
          <a:prstGeom prst="rect">
            <a:avLst/>
          </a:prstGeom>
          <a:solidFill>
            <a:srgbClr val="0EA5E9">
              <a:alpha val="70000"/>
            </a:srgbClr>
          </a:solidFill>
          <a:ln w="12700">
            <a:solidFill>
              <a:srgbClr val="0EA5E9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9" name="Text 27"/>
          <p:cNvSpPr/>
          <p:nvPr/>
        </p:nvSpPr>
        <p:spPr>
          <a:xfrm>
            <a:off x="384048" y="38130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1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s-CR" sz="1100" noProof="0" dirty="0"/>
          </a:p>
        </p:txBody>
      </p:sp>
      <p:sp>
        <p:nvSpPr>
          <p:cNvPr id="30" name="Text 28"/>
          <p:cNvSpPr/>
          <p:nvPr/>
        </p:nvSpPr>
        <p:spPr>
          <a:xfrm>
            <a:off x="932688" y="384962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pago en texto</a:t>
            </a:r>
            <a:endParaRPr lang="es-CR" sz="1100" noProof="0" dirty="0"/>
          </a:p>
        </p:txBody>
      </p:sp>
      <p:sp>
        <p:nvSpPr>
          <p:cNvPr id="31" name="Text 29"/>
          <p:cNvSpPr/>
          <p:nvPr/>
        </p:nvSpPr>
        <p:spPr>
          <a:xfrm>
            <a:off x="932688" y="404164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9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</a:t>
            </a:r>
            <a:r>
              <a:rPr lang="es-CR" sz="900" i="1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payment_type</a:t>
            </a:r>
            <a:r>
              <a:rPr lang="es-CR" sz="9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Tarjeta / Efectivo / ...</a:t>
            </a:r>
            <a:endParaRPr lang="es-CR" sz="900" noProof="0" dirty="0"/>
          </a:p>
        </p:txBody>
      </p:sp>
      <p:sp>
        <p:nvSpPr>
          <p:cNvPr id="32" name="Shape 30"/>
          <p:cNvSpPr/>
          <p:nvPr/>
        </p:nvSpPr>
        <p:spPr>
          <a:xfrm>
            <a:off x="384048" y="4361688"/>
            <a:ext cx="41148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3" name="Shape 31"/>
          <p:cNvSpPr/>
          <p:nvPr/>
        </p:nvSpPr>
        <p:spPr>
          <a:xfrm>
            <a:off x="384048" y="4361688"/>
            <a:ext cx="502920" cy="457200"/>
          </a:xfrm>
          <a:prstGeom prst="rect">
            <a:avLst/>
          </a:prstGeom>
          <a:solidFill>
            <a:srgbClr val="0EA5E9">
              <a:alpha val="70000"/>
            </a:srgbClr>
          </a:solidFill>
          <a:ln w="12700">
            <a:solidFill>
              <a:srgbClr val="0EA5E9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4" name="Text 32"/>
          <p:cNvSpPr/>
          <p:nvPr/>
        </p:nvSpPr>
        <p:spPr>
          <a:xfrm>
            <a:off x="384048" y="43616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1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s-CR" sz="1100" noProof="0" dirty="0"/>
          </a:p>
        </p:txBody>
      </p:sp>
      <p:sp>
        <p:nvSpPr>
          <p:cNvPr id="35" name="Text 33"/>
          <p:cNvSpPr/>
          <p:nvPr/>
        </p:nvSpPr>
        <p:spPr>
          <a:xfrm>
            <a:off x="932688" y="439826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de distancia</a:t>
            </a:r>
            <a:endParaRPr lang="es-CR" sz="1100" noProof="0" dirty="0"/>
          </a:p>
        </p:txBody>
      </p:sp>
      <p:sp>
        <p:nvSpPr>
          <p:cNvPr id="36" name="Text 34"/>
          <p:cNvSpPr/>
          <p:nvPr/>
        </p:nvSpPr>
        <p:spPr>
          <a:xfrm>
            <a:off x="932688" y="459028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9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→ 0-2 mi / 2-4 mi / 4-6 mi / 6+ mi</a:t>
            </a:r>
            <a:endParaRPr lang="es-CR" sz="900" noProof="0" dirty="0"/>
          </a:p>
        </p:txBody>
      </p:sp>
      <p:sp>
        <p:nvSpPr>
          <p:cNvPr id="37" name="Text 35"/>
          <p:cNvSpPr/>
          <p:nvPr/>
        </p:nvSpPr>
        <p:spPr>
          <a:xfrm>
            <a:off x="4754880" y="12618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300" b="1" noProof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de Limpieza</a:t>
            </a:r>
            <a:endParaRPr lang="es-CR" sz="1300" noProof="0" dirty="0"/>
          </a:p>
        </p:txBody>
      </p:sp>
      <p:sp>
        <p:nvSpPr>
          <p:cNvPr id="38" name="Shape 36"/>
          <p:cNvSpPr/>
          <p:nvPr/>
        </p:nvSpPr>
        <p:spPr>
          <a:xfrm>
            <a:off x="4754880" y="1618488"/>
            <a:ext cx="411480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9" name="Text 37"/>
          <p:cNvSpPr/>
          <p:nvPr/>
        </p:nvSpPr>
        <p:spPr>
          <a:xfrm>
            <a:off x="4846320" y="163677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0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s-CR" sz="1100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trip_distance</a:t>
            </a:r>
            <a:r>
              <a:rPr lang="es-CR" sz="110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0</a:t>
            </a:r>
            <a:endParaRPr lang="es-CR" sz="1100" noProof="0" dirty="0"/>
          </a:p>
        </p:txBody>
      </p:sp>
      <p:sp>
        <p:nvSpPr>
          <p:cNvPr id="40" name="Shape 38"/>
          <p:cNvSpPr/>
          <p:nvPr/>
        </p:nvSpPr>
        <p:spPr>
          <a:xfrm>
            <a:off x="4754880" y="1947672"/>
            <a:ext cx="411480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1" name="Text 39"/>
          <p:cNvSpPr/>
          <p:nvPr/>
        </p:nvSpPr>
        <p:spPr>
          <a:xfrm>
            <a:off x="4846320" y="196596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0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s-CR" sz="1100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fare_amount</a:t>
            </a:r>
            <a:r>
              <a:rPr lang="es-CR" sz="110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0  AND  </a:t>
            </a:r>
            <a:r>
              <a:rPr lang="es-CR" sz="1100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total_amount</a:t>
            </a:r>
            <a:r>
              <a:rPr lang="es-CR" sz="110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0</a:t>
            </a:r>
            <a:endParaRPr lang="es-CR" sz="1100" noProof="0" dirty="0"/>
          </a:p>
        </p:txBody>
      </p:sp>
      <p:sp>
        <p:nvSpPr>
          <p:cNvPr id="42" name="Shape 40"/>
          <p:cNvSpPr/>
          <p:nvPr/>
        </p:nvSpPr>
        <p:spPr>
          <a:xfrm>
            <a:off x="4754880" y="2276856"/>
            <a:ext cx="411480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3" name="Text 41"/>
          <p:cNvSpPr/>
          <p:nvPr/>
        </p:nvSpPr>
        <p:spPr>
          <a:xfrm>
            <a:off x="4846320" y="229514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0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s-CR" sz="1100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tpep_pickup_datetime</a:t>
            </a:r>
            <a:r>
              <a:rPr lang="es-CR" sz="110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NOT NULL</a:t>
            </a:r>
            <a:endParaRPr lang="es-CR" sz="1100" noProof="0" dirty="0"/>
          </a:p>
        </p:txBody>
      </p:sp>
      <p:sp>
        <p:nvSpPr>
          <p:cNvPr id="44" name="Shape 42"/>
          <p:cNvSpPr/>
          <p:nvPr/>
        </p:nvSpPr>
        <p:spPr>
          <a:xfrm>
            <a:off x="4754880" y="2606040"/>
            <a:ext cx="411480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5" name="Text 43"/>
          <p:cNvSpPr/>
          <p:nvPr/>
        </p:nvSpPr>
        <p:spPr>
          <a:xfrm>
            <a:off x="4846320" y="262432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0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Duración entre 1 y 1440 minutos</a:t>
            </a:r>
            <a:endParaRPr lang="es-CR" sz="1100" noProof="0" dirty="0"/>
          </a:p>
        </p:txBody>
      </p:sp>
      <p:sp>
        <p:nvSpPr>
          <p:cNvPr id="46" name="Text 44"/>
          <p:cNvSpPr/>
          <p:nvPr/>
        </p:nvSpPr>
        <p:spPr>
          <a:xfrm>
            <a:off x="4754880" y="2971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300" b="1" noProof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Generadas en </a:t>
            </a:r>
            <a:r>
              <a:rPr lang="es-CR" sz="1300" b="1" noProof="0" dirty="0" err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s-CR" sz="1300" noProof="0" dirty="0"/>
          </a:p>
        </p:txBody>
      </p:sp>
      <p:sp>
        <p:nvSpPr>
          <p:cNvPr id="47" name="Shape 45"/>
          <p:cNvSpPr/>
          <p:nvPr/>
        </p:nvSpPr>
        <p:spPr>
          <a:xfrm>
            <a:off x="4754880" y="3319272"/>
            <a:ext cx="411480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8" name="Text 46"/>
          <p:cNvSpPr/>
          <p:nvPr/>
        </p:nvSpPr>
        <p:spPr>
          <a:xfrm>
            <a:off x="4846320" y="33558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050" b="1" i="1" noProof="0" dirty="0" err="1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yellow_trips_clean</a:t>
            </a:r>
            <a:endParaRPr lang="es-CR" sz="1050" noProof="0" dirty="0"/>
          </a:p>
        </p:txBody>
      </p:sp>
      <p:sp>
        <p:nvSpPr>
          <p:cNvPr id="49" name="Text 47"/>
          <p:cNvSpPr/>
          <p:nvPr/>
        </p:nvSpPr>
        <p:spPr>
          <a:xfrm>
            <a:off x="7315200" y="33558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R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11.6M registros limpios</a:t>
            </a:r>
            <a:endParaRPr lang="es-CR" sz="1000" noProof="0" dirty="0"/>
          </a:p>
        </p:txBody>
      </p:sp>
      <p:sp>
        <p:nvSpPr>
          <p:cNvPr id="50" name="Shape 48"/>
          <p:cNvSpPr/>
          <p:nvPr/>
        </p:nvSpPr>
        <p:spPr>
          <a:xfrm>
            <a:off x="4754880" y="3721608"/>
            <a:ext cx="411480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51" name="Text 49"/>
          <p:cNvSpPr/>
          <p:nvPr/>
        </p:nvSpPr>
        <p:spPr>
          <a:xfrm>
            <a:off x="4846320" y="375818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050" b="1" i="1" noProof="0" dirty="0" err="1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trips_by_hour</a:t>
            </a:r>
            <a:endParaRPr lang="es-CR" sz="1050" noProof="0" dirty="0"/>
          </a:p>
        </p:txBody>
      </p:sp>
      <p:sp>
        <p:nvSpPr>
          <p:cNvPr id="52" name="Text 50"/>
          <p:cNvSpPr/>
          <p:nvPr/>
        </p:nvSpPr>
        <p:spPr>
          <a:xfrm>
            <a:off x="7315200" y="375818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R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registros (1 por hora)</a:t>
            </a:r>
            <a:endParaRPr lang="es-CR" sz="1000" noProof="0" dirty="0"/>
          </a:p>
        </p:txBody>
      </p:sp>
      <p:sp>
        <p:nvSpPr>
          <p:cNvPr id="53" name="Shape 51"/>
          <p:cNvSpPr/>
          <p:nvPr/>
        </p:nvSpPr>
        <p:spPr>
          <a:xfrm>
            <a:off x="4754880" y="4123944"/>
            <a:ext cx="411480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54" name="Text 52"/>
          <p:cNvSpPr/>
          <p:nvPr/>
        </p:nvSpPr>
        <p:spPr>
          <a:xfrm>
            <a:off x="4846320" y="41605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050" b="1" i="1" noProof="0" dirty="0" err="1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trips_by_zone</a:t>
            </a:r>
            <a:endParaRPr lang="es-CR" sz="1050" noProof="0" dirty="0"/>
          </a:p>
        </p:txBody>
      </p:sp>
      <p:sp>
        <p:nvSpPr>
          <p:cNvPr id="55" name="Text 53"/>
          <p:cNvSpPr/>
          <p:nvPr/>
        </p:nvSpPr>
        <p:spPr>
          <a:xfrm>
            <a:off x="7315200" y="41605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R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zonas de recogida</a:t>
            </a:r>
            <a:endParaRPr lang="es-CR" sz="1000" noProof="0" dirty="0"/>
          </a:p>
        </p:txBody>
      </p:sp>
      <p:sp>
        <p:nvSpPr>
          <p:cNvPr id="56" name="Shape 54"/>
          <p:cNvSpPr/>
          <p:nvPr/>
        </p:nvSpPr>
        <p:spPr>
          <a:xfrm>
            <a:off x="4754880" y="4526280"/>
            <a:ext cx="411480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57" name="Text 55"/>
          <p:cNvSpPr/>
          <p:nvPr/>
        </p:nvSpPr>
        <p:spPr>
          <a:xfrm>
            <a:off x="4846320" y="456285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050" b="1" i="1" noProof="0" dirty="0" err="1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tip_by_distance</a:t>
            </a:r>
            <a:endParaRPr lang="es-CR" sz="1050" noProof="0" dirty="0"/>
          </a:p>
        </p:txBody>
      </p:sp>
      <p:sp>
        <p:nvSpPr>
          <p:cNvPr id="58" name="Text 56"/>
          <p:cNvSpPr/>
          <p:nvPr/>
        </p:nvSpPr>
        <p:spPr>
          <a:xfrm>
            <a:off x="7315200" y="456285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R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rangos de distancia</a:t>
            </a:r>
            <a:endParaRPr lang="es-CR" sz="10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" name="Text 1"/>
          <p:cNvSpPr/>
          <p:nvPr/>
        </p:nvSpPr>
        <p:spPr>
          <a:xfrm>
            <a:off x="384048" y="182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200" b="1" noProof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s-CR" sz="1200" noProof="0" dirty="0"/>
          </a:p>
        </p:txBody>
      </p:sp>
      <p:sp>
        <p:nvSpPr>
          <p:cNvPr id="4" name="Text 2"/>
          <p:cNvSpPr/>
          <p:nvPr/>
        </p:nvSpPr>
        <p:spPr>
          <a:xfrm>
            <a:off x="384048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32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y Análisis</a:t>
            </a:r>
            <a:endParaRPr lang="es-CR" sz="3200" noProof="0" dirty="0"/>
          </a:p>
        </p:txBody>
      </p:sp>
      <p:sp>
        <p:nvSpPr>
          <p:cNvPr id="5" name="Text 3"/>
          <p:cNvSpPr/>
          <p:nvPr/>
        </p:nvSpPr>
        <p:spPr>
          <a:xfrm>
            <a:off x="384048" y="8961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a las 3 preguntas analíticas planteadas</a:t>
            </a:r>
            <a:endParaRPr lang="es-CR" sz="1200" noProof="0" dirty="0"/>
          </a:p>
        </p:txBody>
      </p:sp>
      <p:sp>
        <p:nvSpPr>
          <p:cNvPr id="6" name="Shape 4"/>
          <p:cNvSpPr/>
          <p:nvPr/>
        </p:nvSpPr>
        <p:spPr>
          <a:xfrm>
            <a:off x="384048" y="1261872"/>
            <a:ext cx="269748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7" name="Shape 5"/>
          <p:cNvSpPr/>
          <p:nvPr/>
        </p:nvSpPr>
        <p:spPr>
          <a:xfrm>
            <a:off x="384048" y="1261872"/>
            <a:ext cx="269748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8" name="Text 6"/>
          <p:cNvSpPr/>
          <p:nvPr/>
        </p:nvSpPr>
        <p:spPr>
          <a:xfrm>
            <a:off x="521208" y="135331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¿Cuáles son las horas con mayor demanda?</a:t>
            </a:r>
            <a:endParaRPr lang="es-CR" sz="1100" noProof="0" dirty="0"/>
          </a:p>
        </p:txBody>
      </p:sp>
      <p:sp>
        <p:nvSpPr>
          <p:cNvPr id="9" name="Shape 7"/>
          <p:cNvSpPr/>
          <p:nvPr/>
        </p:nvSpPr>
        <p:spPr>
          <a:xfrm>
            <a:off x="493776" y="1920240"/>
            <a:ext cx="2487168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0" name="Text 8"/>
          <p:cNvSpPr/>
          <p:nvPr/>
        </p:nvSpPr>
        <p:spPr>
          <a:xfrm>
            <a:off x="493776" y="1947672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3000" b="1" noProof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750,000+</a:t>
            </a:r>
            <a:endParaRPr lang="es-CR" sz="3000" noProof="0" dirty="0"/>
          </a:p>
        </p:txBody>
      </p:sp>
      <p:sp>
        <p:nvSpPr>
          <p:cNvPr id="11" name="Text 9"/>
          <p:cNvSpPr/>
          <p:nvPr/>
        </p:nvSpPr>
        <p:spPr>
          <a:xfrm>
            <a:off x="493776" y="2395728"/>
            <a:ext cx="2487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9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viajes en hora pico</a:t>
            </a:r>
            <a:endParaRPr lang="es-CR" sz="950" noProof="0" dirty="0"/>
          </a:p>
        </p:txBody>
      </p:sp>
      <p:sp>
        <p:nvSpPr>
          <p:cNvPr id="12" name="Text 10"/>
          <p:cNvSpPr/>
          <p:nvPr/>
        </p:nvSpPr>
        <p:spPr>
          <a:xfrm>
            <a:off x="521208" y="28529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00" b="1" noProof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Pico: 17:00–18:00</a:t>
            </a:r>
            <a:endParaRPr lang="es-CR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521208" y="3154680"/>
            <a:ext cx="2423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demanda crece desde las 6:00 AM hasta el pico vespertino. El mínimo se registra entre las 3:00 y 5:00 AM con menos de 100,000 viajes.</a:t>
            </a:r>
            <a:endParaRPr lang="es-CR" sz="1050" noProof="0" dirty="0"/>
          </a:p>
        </p:txBody>
      </p:sp>
      <p:sp>
        <p:nvSpPr>
          <p:cNvPr id="14" name="Shape 12"/>
          <p:cNvSpPr/>
          <p:nvPr/>
        </p:nvSpPr>
        <p:spPr>
          <a:xfrm>
            <a:off x="3255264" y="1261872"/>
            <a:ext cx="269748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15" name="Shape 13"/>
          <p:cNvSpPr/>
          <p:nvPr/>
        </p:nvSpPr>
        <p:spPr>
          <a:xfrm>
            <a:off x="3255264" y="1261872"/>
            <a:ext cx="26974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6" name="Text 14"/>
          <p:cNvSpPr/>
          <p:nvPr/>
        </p:nvSpPr>
        <p:spPr>
          <a:xfrm>
            <a:off x="3392424" y="135331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¿Qué zonas concentran más viajes?</a:t>
            </a:r>
            <a:endParaRPr lang="es-CR" sz="1100" noProof="0" dirty="0"/>
          </a:p>
        </p:txBody>
      </p:sp>
      <p:sp>
        <p:nvSpPr>
          <p:cNvPr id="17" name="Shape 15"/>
          <p:cNvSpPr/>
          <p:nvPr/>
        </p:nvSpPr>
        <p:spPr>
          <a:xfrm>
            <a:off x="3364992" y="1920240"/>
            <a:ext cx="2487168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8" name="Text 16"/>
          <p:cNvSpPr/>
          <p:nvPr/>
        </p:nvSpPr>
        <p:spPr>
          <a:xfrm>
            <a:off x="3364992" y="1947672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30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550,000+</a:t>
            </a:r>
            <a:endParaRPr lang="es-CR" sz="3000" noProof="0" dirty="0"/>
          </a:p>
        </p:txBody>
      </p:sp>
      <p:sp>
        <p:nvSpPr>
          <p:cNvPr id="19" name="Text 17"/>
          <p:cNvSpPr/>
          <p:nvPr/>
        </p:nvSpPr>
        <p:spPr>
          <a:xfrm>
            <a:off x="3364992" y="2395728"/>
            <a:ext cx="2487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9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viajes — zona líder</a:t>
            </a:r>
            <a:endParaRPr lang="es-CR" sz="950" noProof="0" dirty="0"/>
          </a:p>
        </p:txBody>
      </p:sp>
      <p:sp>
        <p:nvSpPr>
          <p:cNvPr id="20" name="Text 18"/>
          <p:cNvSpPr/>
          <p:nvPr/>
        </p:nvSpPr>
        <p:spPr>
          <a:xfrm>
            <a:off x="3392424" y="28529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#1: </a:t>
            </a:r>
            <a:r>
              <a:rPr lang="es-CR" sz="1100" b="1" noProof="0" dirty="0" err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</a:t>
            </a:r>
            <a:r>
              <a:rPr lang="es-CR" sz="11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East </a:t>
            </a:r>
            <a:r>
              <a:rPr lang="es-CR" sz="1100" b="1" noProof="0" dirty="0" err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</a:t>
            </a:r>
            <a:r>
              <a:rPr lang="es-CR" sz="11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</a:t>
            </a:r>
            <a:endParaRPr lang="es-CR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3392424" y="3154680"/>
            <a:ext cx="2423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Midtown Center (500K) y </a:t>
            </a:r>
            <a:r>
              <a:rPr lang="es-CR" sz="105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</a:t>
            </a:r>
            <a:r>
              <a:rPr lang="es-C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East </a:t>
            </a:r>
            <a:r>
              <a:rPr lang="es-CR" sz="105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</a:t>
            </a:r>
            <a:r>
              <a:rPr lang="es-C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 (480K) completan el podio. JFK </a:t>
            </a:r>
            <a:r>
              <a:rPr lang="es-CR" sz="105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</a:t>
            </a:r>
            <a:r>
              <a:rPr lang="es-C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ocupa el 4to lugar con ~470,000 viajes.</a:t>
            </a:r>
            <a:endParaRPr lang="es-CR" sz="1050" noProof="0" dirty="0"/>
          </a:p>
        </p:txBody>
      </p:sp>
      <p:sp>
        <p:nvSpPr>
          <p:cNvPr id="22" name="Shape 20"/>
          <p:cNvSpPr/>
          <p:nvPr/>
        </p:nvSpPr>
        <p:spPr>
          <a:xfrm>
            <a:off x="6126480" y="1261872"/>
            <a:ext cx="269748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23" name="Shape 21"/>
          <p:cNvSpPr/>
          <p:nvPr/>
        </p:nvSpPr>
        <p:spPr>
          <a:xfrm>
            <a:off x="6126480" y="1261872"/>
            <a:ext cx="2697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4" name="Text 22"/>
          <p:cNvSpPr/>
          <p:nvPr/>
        </p:nvSpPr>
        <p:spPr>
          <a:xfrm>
            <a:off x="6263640" y="135331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Relación distancia ↔ propina promedio</a:t>
            </a:r>
            <a:endParaRPr lang="es-CR" sz="1100" noProof="0" dirty="0"/>
          </a:p>
        </p:txBody>
      </p:sp>
      <p:sp>
        <p:nvSpPr>
          <p:cNvPr id="25" name="Shape 23"/>
          <p:cNvSpPr/>
          <p:nvPr/>
        </p:nvSpPr>
        <p:spPr>
          <a:xfrm>
            <a:off x="6236208" y="1920240"/>
            <a:ext cx="2487168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6" name="Text 24"/>
          <p:cNvSpPr/>
          <p:nvPr/>
        </p:nvSpPr>
        <p:spPr>
          <a:xfrm>
            <a:off x="6236208" y="1947672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3000" b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$6.50 USD</a:t>
            </a:r>
            <a:endParaRPr lang="es-CR" sz="3000" noProof="0" dirty="0"/>
          </a:p>
        </p:txBody>
      </p:sp>
      <p:sp>
        <p:nvSpPr>
          <p:cNvPr id="27" name="Text 25"/>
          <p:cNvSpPr/>
          <p:nvPr/>
        </p:nvSpPr>
        <p:spPr>
          <a:xfrm>
            <a:off x="6236208" y="2395728"/>
            <a:ext cx="2487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9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propina promedio 6+ mi</a:t>
            </a:r>
            <a:endParaRPr lang="es-CR" sz="950" noProof="0" dirty="0"/>
          </a:p>
        </p:txBody>
      </p:sp>
      <p:sp>
        <p:nvSpPr>
          <p:cNvPr id="28" name="Text 26"/>
          <p:cNvSpPr/>
          <p:nvPr/>
        </p:nvSpPr>
        <p:spPr>
          <a:xfrm>
            <a:off x="6263640" y="28529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00" b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Viajes &gt; 6 mi ganan más</a:t>
            </a:r>
            <a:endParaRPr lang="es-CR" sz="1100" noProof="0" dirty="0"/>
          </a:p>
        </p:txBody>
      </p:sp>
      <p:sp>
        <p:nvSpPr>
          <p:cNvPr id="29" name="Text 27"/>
          <p:cNvSpPr/>
          <p:nvPr/>
        </p:nvSpPr>
        <p:spPr>
          <a:xfrm>
            <a:off x="6263640" y="3154680"/>
            <a:ext cx="2423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Viajes 0-2 mi promedian solo $2.20. Los rangos intermedios rondan $2.80–$2.90. Los trayectos a aeropuertos impulsan las propinas altas.</a:t>
            </a:r>
            <a:endParaRPr lang="es-CR" sz="105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" name="Text 1"/>
          <p:cNvSpPr/>
          <p:nvPr/>
        </p:nvSpPr>
        <p:spPr>
          <a:xfrm>
            <a:off x="384048" y="182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200" b="1" noProof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s-CR" sz="1200" noProof="0" dirty="0"/>
          </a:p>
        </p:txBody>
      </p:sp>
      <p:sp>
        <p:nvSpPr>
          <p:cNvPr id="4" name="Text 2"/>
          <p:cNvSpPr/>
          <p:nvPr/>
        </p:nvSpPr>
        <p:spPr>
          <a:xfrm>
            <a:off x="384048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32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Visualizaciones</a:t>
            </a:r>
            <a:endParaRPr lang="es-CR" sz="3200" noProof="0" dirty="0"/>
          </a:p>
        </p:txBody>
      </p:sp>
      <p:sp>
        <p:nvSpPr>
          <p:cNvPr id="5" name="Text 3"/>
          <p:cNvSpPr/>
          <p:nvPr/>
        </p:nvSpPr>
        <p:spPr>
          <a:xfrm>
            <a:off x="384048" y="8961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Generadas automáticamente por el pipeline — subidas a Cloud Storage</a:t>
            </a:r>
            <a:endParaRPr lang="es-CR" sz="1200" noProof="0" dirty="0"/>
          </a:p>
        </p:txBody>
      </p:sp>
      <p:sp>
        <p:nvSpPr>
          <p:cNvPr id="6" name="Shape 4"/>
          <p:cNvSpPr/>
          <p:nvPr/>
        </p:nvSpPr>
        <p:spPr>
          <a:xfrm>
            <a:off x="384048" y="1261872"/>
            <a:ext cx="269748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7" name="Shape 5"/>
          <p:cNvSpPr/>
          <p:nvPr/>
        </p:nvSpPr>
        <p:spPr>
          <a:xfrm>
            <a:off x="384048" y="1261872"/>
            <a:ext cx="269748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8" name="Text 6"/>
          <p:cNvSpPr/>
          <p:nvPr/>
        </p:nvSpPr>
        <p:spPr>
          <a:xfrm>
            <a:off x="521208" y="13716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2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 1 — Demanda por Hora</a:t>
            </a:r>
            <a:endParaRPr lang="es-CR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521208" y="1783080"/>
            <a:ext cx="2423160" cy="1737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0" name="Shape 8"/>
          <p:cNvSpPr/>
          <p:nvPr/>
        </p:nvSpPr>
        <p:spPr>
          <a:xfrm>
            <a:off x="566928" y="2912364"/>
            <a:ext cx="60579" cy="452628"/>
          </a:xfrm>
          <a:prstGeom prst="rect">
            <a:avLst/>
          </a:prstGeom>
          <a:solidFill>
            <a:srgbClr val="0EA5E9">
              <a:alpha val="65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1" name="Shape 9"/>
          <p:cNvSpPr/>
          <p:nvPr/>
        </p:nvSpPr>
        <p:spPr>
          <a:xfrm>
            <a:off x="664083" y="2987802"/>
            <a:ext cx="60579" cy="377190"/>
          </a:xfrm>
          <a:prstGeom prst="rect">
            <a:avLst/>
          </a:prstGeom>
          <a:solidFill>
            <a:srgbClr val="0EA5E9">
              <a:alpha val="65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2" name="Shape 10"/>
          <p:cNvSpPr/>
          <p:nvPr/>
        </p:nvSpPr>
        <p:spPr>
          <a:xfrm>
            <a:off x="761238" y="3138678"/>
            <a:ext cx="60579" cy="226314"/>
          </a:xfrm>
          <a:prstGeom prst="rect">
            <a:avLst/>
          </a:prstGeom>
          <a:solidFill>
            <a:srgbClr val="0EA5E9">
              <a:alpha val="65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3" name="Shape 11"/>
          <p:cNvSpPr/>
          <p:nvPr/>
        </p:nvSpPr>
        <p:spPr>
          <a:xfrm>
            <a:off x="858393" y="3183941"/>
            <a:ext cx="60579" cy="181051"/>
          </a:xfrm>
          <a:prstGeom prst="rect">
            <a:avLst/>
          </a:prstGeom>
          <a:solidFill>
            <a:srgbClr val="0EA5E9">
              <a:alpha val="65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4" name="Shape 12"/>
          <p:cNvSpPr/>
          <p:nvPr/>
        </p:nvSpPr>
        <p:spPr>
          <a:xfrm>
            <a:off x="955548" y="3214116"/>
            <a:ext cx="60579" cy="150876"/>
          </a:xfrm>
          <a:prstGeom prst="rect">
            <a:avLst/>
          </a:prstGeom>
          <a:solidFill>
            <a:srgbClr val="0EA5E9">
              <a:alpha val="65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5" name="Shape 13"/>
          <p:cNvSpPr/>
          <p:nvPr/>
        </p:nvSpPr>
        <p:spPr>
          <a:xfrm>
            <a:off x="1052703" y="3138678"/>
            <a:ext cx="60579" cy="226314"/>
          </a:xfrm>
          <a:prstGeom prst="rect">
            <a:avLst/>
          </a:prstGeom>
          <a:solidFill>
            <a:srgbClr val="0EA5E9">
              <a:alpha val="65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6" name="Shape 14"/>
          <p:cNvSpPr/>
          <p:nvPr/>
        </p:nvSpPr>
        <p:spPr>
          <a:xfrm>
            <a:off x="1149858" y="2912364"/>
            <a:ext cx="60579" cy="452628"/>
          </a:xfrm>
          <a:prstGeom prst="rect">
            <a:avLst/>
          </a:prstGeom>
          <a:solidFill>
            <a:srgbClr val="0EA5E9">
              <a:alpha val="65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7" name="Shape 15"/>
          <p:cNvSpPr/>
          <p:nvPr/>
        </p:nvSpPr>
        <p:spPr>
          <a:xfrm>
            <a:off x="1247013" y="2535174"/>
            <a:ext cx="60579" cy="829818"/>
          </a:xfrm>
          <a:prstGeom prst="rect">
            <a:avLst/>
          </a:prstGeom>
          <a:solidFill>
            <a:srgbClr val="0EA5E9">
              <a:alpha val="65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8" name="Shape 16"/>
          <p:cNvSpPr/>
          <p:nvPr/>
        </p:nvSpPr>
        <p:spPr>
          <a:xfrm>
            <a:off x="1344168" y="2384298"/>
            <a:ext cx="60579" cy="980694"/>
          </a:xfrm>
          <a:prstGeom prst="rect">
            <a:avLst/>
          </a:prstGeom>
          <a:solidFill>
            <a:srgbClr val="0EA5E9">
              <a:alpha val="65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9" name="Shape 17"/>
          <p:cNvSpPr/>
          <p:nvPr/>
        </p:nvSpPr>
        <p:spPr>
          <a:xfrm>
            <a:off x="1441323" y="2308860"/>
            <a:ext cx="60579" cy="1056132"/>
          </a:xfrm>
          <a:prstGeom prst="rect">
            <a:avLst/>
          </a:prstGeom>
          <a:solidFill>
            <a:srgbClr val="0EA5E9">
              <a:alpha val="65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0" name="Shape 18"/>
          <p:cNvSpPr/>
          <p:nvPr/>
        </p:nvSpPr>
        <p:spPr>
          <a:xfrm>
            <a:off x="1538478" y="2233422"/>
            <a:ext cx="60579" cy="1131570"/>
          </a:xfrm>
          <a:prstGeom prst="rect">
            <a:avLst/>
          </a:prstGeom>
          <a:solidFill>
            <a:srgbClr val="0EA5E9">
              <a:alpha val="65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1" name="Shape 19"/>
          <p:cNvSpPr/>
          <p:nvPr/>
        </p:nvSpPr>
        <p:spPr>
          <a:xfrm>
            <a:off x="1635633" y="2278685"/>
            <a:ext cx="60579" cy="1086307"/>
          </a:xfrm>
          <a:prstGeom prst="rect">
            <a:avLst/>
          </a:prstGeom>
          <a:solidFill>
            <a:srgbClr val="0EA5E9">
              <a:alpha val="65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2" name="Shape 20"/>
          <p:cNvSpPr/>
          <p:nvPr/>
        </p:nvSpPr>
        <p:spPr>
          <a:xfrm>
            <a:off x="1732788" y="2384298"/>
            <a:ext cx="60579" cy="980694"/>
          </a:xfrm>
          <a:prstGeom prst="rect">
            <a:avLst/>
          </a:prstGeom>
          <a:solidFill>
            <a:srgbClr val="0EA5E9">
              <a:alpha val="65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3" name="Shape 21"/>
          <p:cNvSpPr/>
          <p:nvPr/>
        </p:nvSpPr>
        <p:spPr>
          <a:xfrm>
            <a:off x="1829943" y="2308860"/>
            <a:ext cx="60579" cy="1056132"/>
          </a:xfrm>
          <a:prstGeom prst="rect">
            <a:avLst/>
          </a:prstGeom>
          <a:solidFill>
            <a:srgbClr val="0EA5E9">
              <a:alpha val="65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4" name="Shape 22"/>
          <p:cNvSpPr/>
          <p:nvPr/>
        </p:nvSpPr>
        <p:spPr>
          <a:xfrm>
            <a:off x="1927098" y="2278685"/>
            <a:ext cx="60579" cy="1086307"/>
          </a:xfrm>
          <a:prstGeom prst="rect">
            <a:avLst/>
          </a:prstGeom>
          <a:solidFill>
            <a:srgbClr val="0EA5E9">
              <a:alpha val="65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5" name="Shape 23"/>
          <p:cNvSpPr/>
          <p:nvPr/>
        </p:nvSpPr>
        <p:spPr>
          <a:xfrm>
            <a:off x="2024253" y="2188159"/>
            <a:ext cx="60579" cy="1176833"/>
          </a:xfrm>
          <a:prstGeom prst="rect">
            <a:avLst/>
          </a:prstGeom>
          <a:solidFill>
            <a:srgbClr val="0EA5E9">
              <a:alpha val="65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6" name="Shape 24"/>
          <p:cNvSpPr/>
          <p:nvPr/>
        </p:nvSpPr>
        <p:spPr>
          <a:xfrm>
            <a:off x="2121408" y="2127809"/>
            <a:ext cx="60579" cy="1237183"/>
          </a:xfrm>
          <a:prstGeom prst="rect">
            <a:avLst/>
          </a:prstGeom>
          <a:solidFill>
            <a:srgbClr val="0EA5E9">
              <a:alpha val="65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7" name="Shape 25"/>
          <p:cNvSpPr/>
          <p:nvPr/>
        </p:nvSpPr>
        <p:spPr>
          <a:xfrm>
            <a:off x="2218563" y="2037283"/>
            <a:ext cx="60579" cy="1327709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8" name="Shape 26"/>
          <p:cNvSpPr/>
          <p:nvPr/>
        </p:nvSpPr>
        <p:spPr>
          <a:xfrm>
            <a:off x="2315718" y="1976933"/>
            <a:ext cx="60579" cy="1388059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9" name="Shape 27"/>
          <p:cNvSpPr/>
          <p:nvPr/>
        </p:nvSpPr>
        <p:spPr>
          <a:xfrm>
            <a:off x="2412873" y="1931670"/>
            <a:ext cx="60579" cy="1433322"/>
          </a:xfrm>
          <a:prstGeom prst="rect">
            <a:avLst/>
          </a:prstGeom>
          <a:solidFill>
            <a:srgbClr val="0EA5E9">
              <a:alpha val="65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0" name="Shape 28"/>
          <p:cNvSpPr/>
          <p:nvPr/>
        </p:nvSpPr>
        <p:spPr>
          <a:xfrm>
            <a:off x="2510028" y="2082546"/>
            <a:ext cx="60579" cy="1282446"/>
          </a:xfrm>
          <a:prstGeom prst="rect">
            <a:avLst/>
          </a:prstGeom>
          <a:solidFill>
            <a:srgbClr val="0EA5E9">
              <a:alpha val="65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1" name="Shape 29"/>
          <p:cNvSpPr/>
          <p:nvPr/>
        </p:nvSpPr>
        <p:spPr>
          <a:xfrm>
            <a:off x="2607183" y="2308860"/>
            <a:ext cx="60579" cy="1056132"/>
          </a:xfrm>
          <a:prstGeom prst="rect">
            <a:avLst/>
          </a:prstGeom>
          <a:solidFill>
            <a:srgbClr val="0EA5E9">
              <a:alpha val="65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2" name="Shape 30"/>
          <p:cNvSpPr/>
          <p:nvPr/>
        </p:nvSpPr>
        <p:spPr>
          <a:xfrm>
            <a:off x="2704338" y="2535174"/>
            <a:ext cx="60579" cy="829818"/>
          </a:xfrm>
          <a:prstGeom prst="rect">
            <a:avLst/>
          </a:prstGeom>
          <a:solidFill>
            <a:srgbClr val="0EA5E9">
              <a:alpha val="65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3" name="Shape 31"/>
          <p:cNvSpPr/>
          <p:nvPr/>
        </p:nvSpPr>
        <p:spPr>
          <a:xfrm>
            <a:off x="2801493" y="2761488"/>
            <a:ext cx="60579" cy="603504"/>
          </a:xfrm>
          <a:prstGeom prst="rect">
            <a:avLst/>
          </a:prstGeom>
          <a:solidFill>
            <a:srgbClr val="0EA5E9">
              <a:alpha val="65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4" name="Text 32"/>
          <p:cNvSpPr/>
          <p:nvPr/>
        </p:nvSpPr>
        <p:spPr>
          <a:xfrm>
            <a:off x="521208" y="35661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950" i="1" noProof="0" dirty="0" err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r>
              <a:rPr lang="es-CR" sz="950" i="1" noProof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s-CR" sz="950" i="1" noProof="0" dirty="0" err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trips_by_hour</a:t>
            </a:r>
            <a:endParaRPr lang="es-CR" sz="950" noProof="0" dirty="0"/>
          </a:p>
        </p:txBody>
      </p:sp>
      <p:sp>
        <p:nvSpPr>
          <p:cNvPr id="35" name="Text 33"/>
          <p:cNvSpPr/>
          <p:nvPr/>
        </p:nvSpPr>
        <p:spPr>
          <a:xfrm>
            <a:off x="521208" y="3813048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barras con la cantidad de viajes por cada hora del día (0–23). Revela el pico vespertino a las 17–18h y el mínimo nocturno.</a:t>
            </a:r>
            <a:endParaRPr lang="es-CR" sz="1000" noProof="0" dirty="0"/>
          </a:p>
        </p:txBody>
      </p:sp>
      <p:sp>
        <p:nvSpPr>
          <p:cNvPr id="36" name="Shape 34"/>
          <p:cNvSpPr/>
          <p:nvPr/>
        </p:nvSpPr>
        <p:spPr>
          <a:xfrm>
            <a:off x="3255264" y="1261872"/>
            <a:ext cx="269748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37" name="Shape 35"/>
          <p:cNvSpPr/>
          <p:nvPr/>
        </p:nvSpPr>
        <p:spPr>
          <a:xfrm>
            <a:off x="3255264" y="1261872"/>
            <a:ext cx="26974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8" name="Text 36"/>
          <p:cNvSpPr/>
          <p:nvPr/>
        </p:nvSpPr>
        <p:spPr>
          <a:xfrm>
            <a:off x="3392424" y="13716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2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 2 — Top 10 Zonas</a:t>
            </a:r>
            <a:endParaRPr lang="es-CR" sz="1200" noProof="0" dirty="0"/>
          </a:p>
        </p:txBody>
      </p:sp>
      <p:sp>
        <p:nvSpPr>
          <p:cNvPr id="39" name="Shape 37"/>
          <p:cNvSpPr/>
          <p:nvPr/>
        </p:nvSpPr>
        <p:spPr>
          <a:xfrm>
            <a:off x="3392424" y="1783080"/>
            <a:ext cx="2423160" cy="1737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0" name="Shape 38"/>
          <p:cNvSpPr/>
          <p:nvPr/>
        </p:nvSpPr>
        <p:spPr>
          <a:xfrm>
            <a:off x="3438144" y="1856232"/>
            <a:ext cx="196596" cy="1508760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1" name="Shape 39"/>
          <p:cNvSpPr/>
          <p:nvPr/>
        </p:nvSpPr>
        <p:spPr>
          <a:xfrm>
            <a:off x="3671316" y="1976933"/>
            <a:ext cx="196596" cy="1388059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2" name="Shape 40"/>
          <p:cNvSpPr/>
          <p:nvPr/>
        </p:nvSpPr>
        <p:spPr>
          <a:xfrm>
            <a:off x="3904488" y="2037283"/>
            <a:ext cx="196596" cy="1327709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3" name="Shape 41"/>
          <p:cNvSpPr/>
          <p:nvPr/>
        </p:nvSpPr>
        <p:spPr>
          <a:xfrm>
            <a:off x="4137660" y="2127809"/>
            <a:ext cx="196596" cy="1237183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4" name="Shape 42"/>
          <p:cNvSpPr/>
          <p:nvPr/>
        </p:nvSpPr>
        <p:spPr>
          <a:xfrm>
            <a:off x="4370832" y="2188159"/>
            <a:ext cx="196596" cy="1176833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5" name="Shape 43"/>
          <p:cNvSpPr/>
          <p:nvPr/>
        </p:nvSpPr>
        <p:spPr>
          <a:xfrm>
            <a:off x="4604004" y="2278685"/>
            <a:ext cx="196596" cy="1086307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6" name="Shape 44"/>
          <p:cNvSpPr/>
          <p:nvPr/>
        </p:nvSpPr>
        <p:spPr>
          <a:xfrm>
            <a:off x="4837176" y="2339035"/>
            <a:ext cx="196596" cy="1025957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7" name="Shape 45"/>
          <p:cNvSpPr/>
          <p:nvPr/>
        </p:nvSpPr>
        <p:spPr>
          <a:xfrm>
            <a:off x="5070348" y="2429561"/>
            <a:ext cx="196596" cy="935431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8" name="Shape 46"/>
          <p:cNvSpPr/>
          <p:nvPr/>
        </p:nvSpPr>
        <p:spPr>
          <a:xfrm>
            <a:off x="5303520" y="2489911"/>
            <a:ext cx="196596" cy="875081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9" name="Shape 47"/>
          <p:cNvSpPr/>
          <p:nvPr/>
        </p:nvSpPr>
        <p:spPr>
          <a:xfrm>
            <a:off x="5536692" y="2580437"/>
            <a:ext cx="196596" cy="784555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50" name="Text 48"/>
          <p:cNvSpPr/>
          <p:nvPr/>
        </p:nvSpPr>
        <p:spPr>
          <a:xfrm>
            <a:off x="3392424" y="35661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950" i="1" noProof="0" dirty="0" err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r>
              <a:rPr lang="es-CR" sz="950" i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s-CR" sz="950" i="1" noProof="0" dirty="0" err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trips_by_zone</a:t>
            </a:r>
            <a:endParaRPr lang="es-CR" sz="950" noProof="0" dirty="0"/>
          </a:p>
        </p:txBody>
      </p:sp>
      <p:sp>
        <p:nvSpPr>
          <p:cNvPr id="51" name="Text 49"/>
          <p:cNvSpPr/>
          <p:nvPr/>
        </p:nvSpPr>
        <p:spPr>
          <a:xfrm>
            <a:off x="3392424" y="3813048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horizontales con las 10 zonas de mayor actividad. Los </a:t>
            </a:r>
            <a:r>
              <a:rPr lang="es-CR" sz="10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</a:t>
            </a:r>
            <a:r>
              <a:rPr lang="es-CR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numéricos son mapeados a nombres reales de zonas NYC.</a:t>
            </a:r>
            <a:endParaRPr lang="es-CR" sz="1000" noProof="0" dirty="0"/>
          </a:p>
        </p:txBody>
      </p:sp>
      <p:sp>
        <p:nvSpPr>
          <p:cNvPr id="52" name="Shape 50"/>
          <p:cNvSpPr/>
          <p:nvPr/>
        </p:nvSpPr>
        <p:spPr>
          <a:xfrm>
            <a:off x="6126480" y="1261872"/>
            <a:ext cx="269748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53" name="Shape 51"/>
          <p:cNvSpPr/>
          <p:nvPr/>
        </p:nvSpPr>
        <p:spPr>
          <a:xfrm>
            <a:off x="6126480" y="1261872"/>
            <a:ext cx="2697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54" name="Text 52"/>
          <p:cNvSpPr/>
          <p:nvPr/>
        </p:nvSpPr>
        <p:spPr>
          <a:xfrm>
            <a:off x="6263640" y="13716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2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 3 — Propina por Distancia</a:t>
            </a:r>
            <a:endParaRPr lang="es-CR" sz="1200" noProof="0" dirty="0"/>
          </a:p>
        </p:txBody>
      </p:sp>
      <p:sp>
        <p:nvSpPr>
          <p:cNvPr id="55" name="Shape 53"/>
          <p:cNvSpPr/>
          <p:nvPr/>
        </p:nvSpPr>
        <p:spPr>
          <a:xfrm>
            <a:off x="6263640" y="1783080"/>
            <a:ext cx="2423160" cy="173736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56" name="Shape 54"/>
          <p:cNvSpPr/>
          <p:nvPr/>
        </p:nvSpPr>
        <p:spPr>
          <a:xfrm>
            <a:off x="6309360" y="2836926"/>
            <a:ext cx="546354" cy="528066"/>
          </a:xfrm>
          <a:prstGeom prst="rect">
            <a:avLst/>
          </a:prstGeom>
          <a:solidFill>
            <a:srgbClr val="F59E0B">
              <a:alpha val="6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57" name="Shape 55"/>
          <p:cNvSpPr/>
          <p:nvPr/>
        </p:nvSpPr>
        <p:spPr>
          <a:xfrm>
            <a:off x="6892290" y="2686050"/>
            <a:ext cx="546354" cy="678942"/>
          </a:xfrm>
          <a:prstGeom prst="rect">
            <a:avLst/>
          </a:prstGeom>
          <a:solidFill>
            <a:srgbClr val="F59E0B">
              <a:alpha val="6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58" name="Shape 56"/>
          <p:cNvSpPr/>
          <p:nvPr/>
        </p:nvSpPr>
        <p:spPr>
          <a:xfrm>
            <a:off x="7475220" y="2640787"/>
            <a:ext cx="546354" cy="724205"/>
          </a:xfrm>
          <a:prstGeom prst="rect">
            <a:avLst/>
          </a:prstGeom>
          <a:solidFill>
            <a:srgbClr val="F59E0B">
              <a:alpha val="6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59" name="Shape 57"/>
          <p:cNvSpPr/>
          <p:nvPr/>
        </p:nvSpPr>
        <p:spPr>
          <a:xfrm>
            <a:off x="8058150" y="1856232"/>
            <a:ext cx="546354" cy="1508760"/>
          </a:xfrm>
          <a:prstGeom prst="rect">
            <a:avLst/>
          </a:prstGeom>
          <a:solidFill>
            <a:srgbClr val="F59E0B">
              <a:alpha val="6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60" name="Text 58"/>
          <p:cNvSpPr/>
          <p:nvPr/>
        </p:nvSpPr>
        <p:spPr>
          <a:xfrm>
            <a:off x="6263640" y="35661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950" i="1" noProof="0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r>
              <a:rPr lang="es-CR" sz="950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s-CR" sz="950" i="1" noProof="0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tip_by_distance</a:t>
            </a:r>
            <a:endParaRPr lang="es-CR" sz="950" noProof="0" dirty="0"/>
          </a:p>
        </p:txBody>
      </p:sp>
      <p:sp>
        <p:nvSpPr>
          <p:cNvPr id="61" name="Text 59"/>
          <p:cNvSpPr/>
          <p:nvPr/>
        </p:nvSpPr>
        <p:spPr>
          <a:xfrm>
            <a:off x="6263640" y="3813048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barras con la propina promedio por rango de distancia. Muestra la correlación positiva entre distancia y propina.</a:t>
            </a:r>
            <a:endParaRPr lang="es-CR" sz="10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" name="Text 1"/>
          <p:cNvSpPr/>
          <p:nvPr/>
        </p:nvSpPr>
        <p:spPr>
          <a:xfrm>
            <a:off x="384048" y="182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200" b="1" noProof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s-CR" sz="1200" noProof="0" dirty="0"/>
          </a:p>
        </p:txBody>
      </p:sp>
      <p:sp>
        <p:nvSpPr>
          <p:cNvPr id="4" name="Text 2"/>
          <p:cNvSpPr/>
          <p:nvPr/>
        </p:nvSpPr>
        <p:spPr>
          <a:xfrm>
            <a:off x="384048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32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s-C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41248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6" name="Shape 4"/>
          <p:cNvSpPr/>
          <p:nvPr/>
        </p:nvSpPr>
        <p:spPr>
          <a:xfrm>
            <a:off x="384048" y="1078992"/>
            <a:ext cx="54864" cy="5303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400" noProof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s-CR" sz="1400" noProof="0" dirty="0"/>
          </a:p>
        </p:txBody>
      </p:sp>
      <p:sp>
        <p:nvSpPr>
          <p:cNvPr id="8" name="Text 6"/>
          <p:cNvSpPr/>
          <p:nvPr/>
        </p:nvSpPr>
        <p:spPr>
          <a:xfrm>
            <a:off x="822960" y="1152144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5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funcional en Cloud Storage con estructura raw/</a:t>
            </a:r>
            <a:r>
              <a:rPr lang="es-CR" sz="1150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r>
              <a:rPr lang="es-CR" sz="115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s-CR" sz="1150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r>
              <a:rPr lang="es-CR" sz="115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siguiendo mejores prácticas.</a:t>
            </a:r>
            <a:endParaRPr lang="es-CR" sz="1150" noProof="0" dirty="0"/>
          </a:p>
        </p:txBody>
      </p:sp>
      <p:sp>
        <p:nvSpPr>
          <p:cNvPr id="9" name="Shape 7"/>
          <p:cNvSpPr/>
          <p:nvPr/>
        </p:nvSpPr>
        <p:spPr>
          <a:xfrm>
            <a:off x="384048" y="1700784"/>
            <a:ext cx="841248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0" name="Shape 8"/>
          <p:cNvSpPr/>
          <p:nvPr/>
        </p:nvSpPr>
        <p:spPr>
          <a:xfrm>
            <a:off x="384048" y="1700784"/>
            <a:ext cx="54864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1" name="Text 9"/>
          <p:cNvSpPr/>
          <p:nvPr/>
        </p:nvSpPr>
        <p:spPr>
          <a:xfrm>
            <a:off x="502920" y="179222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400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s-CR" sz="1400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1773936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5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Python completamente automatizado— ejecuta ingesta, limpieza, transformación, exportación y visualización.</a:t>
            </a:r>
            <a:endParaRPr lang="es-CR" sz="1150" noProof="0" dirty="0"/>
          </a:p>
        </p:txBody>
      </p:sp>
      <p:sp>
        <p:nvSpPr>
          <p:cNvPr id="13" name="Shape 11"/>
          <p:cNvSpPr/>
          <p:nvPr/>
        </p:nvSpPr>
        <p:spPr>
          <a:xfrm>
            <a:off x="384048" y="2322576"/>
            <a:ext cx="841248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4" name="Shape 12"/>
          <p:cNvSpPr/>
          <p:nvPr/>
        </p:nvSpPr>
        <p:spPr>
          <a:xfrm>
            <a:off x="384048" y="2322576"/>
            <a:ext cx="54864" cy="5303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5" name="Text 13"/>
          <p:cNvSpPr/>
          <p:nvPr/>
        </p:nvSpPr>
        <p:spPr>
          <a:xfrm>
            <a:off x="502920" y="241401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400" noProof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s-CR" sz="1400" noProof="0" dirty="0"/>
          </a:p>
        </p:txBody>
      </p:sp>
      <p:sp>
        <p:nvSpPr>
          <p:cNvPr id="16" name="Text 14"/>
          <p:cNvSpPr/>
          <p:nvPr/>
        </p:nvSpPr>
        <p:spPr>
          <a:xfrm>
            <a:off x="822960" y="2395728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50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r>
              <a:rPr lang="es-CR" sz="115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procesó 11.6M registros con SQL en segundos — capacidades analíticas superiores sin infraestructura adicional.</a:t>
            </a:r>
            <a:endParaRPr lang="es-CR" sz="1150" noProof="0" dirty="0"/>
          </a:p>
        </p:txBody>
      </p:sp>
      <p:sp>
        <p:nvSpPr>
          <p:cNvPr id="17" name="Shape 15"/>
          <p:cNvSpPr/>
          <p:nvPr/>
        </p:nvSpPr>
        <p:spPr>
          <a:xfrm>
            <a:off x="384048" y="2944368"/>
            <a:ext cx="841248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8" name="Shape 16"/>
          <p:cNvSpPr/>
          <p:nvPr/>
        </p:nvSpPr>
        <p:spPr>
          <a:xfrm>
            <a:off x="384048" y="2944368"/>
            <a:ext cx="54864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9" name="Text 17"/>
          <p:cNvSpPr/>
          <p:nvPr/>
        </p:nvSpPr>
        <p:spPr>
          <a:xfrm>
            <a:off x="502920" y="303580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s-CR" sz="1400" noProof="0" dirty="0"/>
          </a:p>
        </p:txBody>
      </p:sp>
      <p:sp>
        <p:nvSpPr>
          <p:cNvPr id="20" name="Text 18"/>
          <p:cNvSpPr/>
          <p:nvPr/>
        </p:nvSpPr>
        <p:spPr>
          <a:xfrm>
            <a:off x="822960" y="3017520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5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preguntas respondidas: pico 17–18h, </a:t>
            </a:r>
            <a:r>
              <a:rPr lang="es-CR" sz="1150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</a:t>
            </a:r>
            <a:r>
              <a:rPr lang="es-CR" sz="115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East </a:t>
            </a:r>
            <a:r>
              <a:rPr lang="es-CR" sz="1150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</a:t>
            </a:r>
            <a:r>
              <a:rPr lang="es-CR" sz="115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 (550K+ viajes), propina +6mi = $6.50 USD.</a:t>
            </a:r>
            <a:endParaRPr lang="es-CR" sz="1150" noProof="0" dirty="0"/>
          </a:p>
        </p:txBody>
      </p:sp>
      <p:sp>
        <p:nvSpPr>
          <p:cNvPr id="21" name="Shape 19"/>
          <p:cNvSpPr/>
          <p:nvPr/>
        </p:nvSpPr>
        <p:spPr>
          <a:xfrm>
            <a:off x="384048" y="3566160"/>
            <a:ext cx="841248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2" name="Shape 20"/>
          <p:cNvSpPr/>
          <p:nvPr/>
        </p:nvSpPr>
        <p:spPr>
          <a:xfrm>
            <a:off x="384048" y="3566160"/>
            <a:ext cx="54864" cy="53035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3" name="Text 21"/>
          <p:cNvSpPr/>
          <p:nvPr/>
        </p:nvSpPr>
        <p:spPr>
          <a:xfrm>
            <a:off x="502920" y="36576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400" noProof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s-CR" sz="1400" noProof="0" dirty="0"/>
          </a:p>
        </p:txBody>
      </p:sp>
      <p:sp>
        <p:nvSpPr>
          <p:cNvPr id="24" name="Text 22"/>
          <p:cNvSpPr/>
          <p:nvPr/>
        </p:nvSpPr>
        <p:spPr>
          <a:xfrm>
            <a:off x="822960" y="3639312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5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</a:t>
            </a:r>
            <a:r>
              <a:rPr lang="es-CR" sz="1150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</a:t>
            </a:r>
            <a:r>
              <a:rPr lang="es-CR" sz="115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s-CR" sz="1150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r>
              <a:rPr lang="es-CR" sz="115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generó gráficas profesionales automáticamente, integradas en el pipeline.</a:t>
            </a:r>
            <a:endParaRPr lang="es-CR" sz="1150" noProof="0" dirty="0"/>
          </a:p>
        </p:txBody>
      </p:sp>
      <p:sp>
        <p:nvSpPr>
          <p:cNvPr id="25" name="Shape 23"/>
          <p:cNvSpPr/>
          <p:nvPr/>
        </p:nvSpPr>
        <p:spPr>
          <a:xfrm>
            <a:off x="384048" y="4187952"/>
            <a:ext cx="841248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6" name="Shape 24"/>
          <p:cNvSpPr/>
          <p:nvPr/>
        </p:nvSpPr>
        <p:spPr>
          <a:xfrm>
            <a:off x="384048" y="4187952"/>
            <a:ext cx="54864" cy="5303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7" name="Text 25"/>
          <p:cNvSpPr/>
          <p:nvPr/>
        </p:nvSpPr>
        <p:spPr>
          <a:xfrm>
            <a:off x="502920" y="427939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400" noProof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s-CR" sz="1400" noProof="0" dirty="0"/>
          </a:p>
        </p:txBody>
      </p:sp>
      <p:sp>
        <p:nvSpPr>
          <p:cNvPr id="28" name="Text 26"/>
          <p:cNvSpPr/>
          <p:nvPr/>
        </p:nvSpPr>
        <p:spPr>
          <a:xfrm>
            <a:off x="822960" y="4261104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5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escalable y reproducible dentro del Free </a:t>
            </a:r>
            <a:r>
              <a:rPr lang="es-CR" sz="1150" noProof="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r>
              <a:rPr lang="es-CR" sz="1150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GCP — base para predicción de demanda, optimización de rutas y análisis de rentabilidad.</a:t>
            </a:r>
            <a:endParaRPr lang="es-CR" sz="115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" name="Shape 1"/>
          <p:cNvSpPr/>
          <p:nvPr/>
        </p:nvSpPr>
        <p:spPr>
          <a:xfrm>
            <a:off x="365760" y="36576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6" name="Shape 4"/>
          <p:cNvSpPr/>
          <p:nvPr/>
        </p:nvSpPr>
        <p:spPr>
          <a:xfrm>
            <a:off x="365760" y="256032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7" name="Shape 5"/>
          <p:cNvSpPr/>
          <p:nvPr/>
        </p:nvSpPr>
        <p:spPr>
          <a:xfrm>
            <a:off x="365760" y="329184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8" name="Shape 6"/>
          <p:cNvSpPr/>
          <p:nvPr/>
        </p:nvSpPr>
        <p:spPr>
          <a:xfrm>
            <a:off x="365760" y="402336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9" name="Shape 7"/>
          <p:cNvSpPr/>
          <p:nvPr/>
        </p:nvSpPr>
        <p:spPr>
          <a:xfrm>
            <a:off x="1463040" y="36576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0" name="Shape 8"/>
          <p:cNvSpPr/>
          <p:nvPr/>
        </p:nvSpPr>
        <p:spPr>
          <a:xfrm>
            <a:off x="1463040" y="109728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1" name="Shape 9"/>
          <p:cNvSpPr/>
          <p:nvPr/>
        </p:nvSpPr>
        <p:spPr>
          <a:xfrm>
            <a:off x="1463040" y="182880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2" name="Shape 10"/>
          <p:cNvSpPr/>
          <p:nvPr/>
        </p:nvSpPr>
        <p:spPr>
          <a:xfrm>
            <a:off x="1463040" y="256032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3" name="Shape 11"/>
          <p:cNvSpPr/>
          <p:nvPr/>
        </p:nvSpPr>
        <p:spPr>
          <a:xfrm>
            <a:off x="1463040" y="329184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4" name="Shape 12"/>
          <p:cNvSpPr/>
          <p:nvPr/>
        </p:nvSpPr>
        <p:spPr>
          <a:xfrm>
            <a:off x="1463040" y="402336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5" name="Shape 13"/>
          <p:cNvSpPr/>
          <p:nvPr/>
        </p:nvSpPr>
        <p:spPr>
          <a:xfrm>
            <a:off x="2560320" y="36576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6" name="Shape 14"/>
          <p:cNvSpPr/>
          <p:nvPr/>
        </p:nvSpPr>
        <p:spPr>
          <a:xfrm>
            <a:off x="2560320" y="109728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7" name="Shape 15"/>
          <p:cNvSpPr/>
          <p:nvPr/>
        </p:nvSpPr>
        <p:spPr>
          <a:xfrm>
            <a:off x="2560320" y="182880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8" name="Shape 16"/>
          <p:cNvSpPr/>
          <p:nvPr/>
        </p:nvSpPr>
        <p:spPr>
          <a:xfrm>
            <a:off x="2560320" y="256032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9" name="Shape 17"/>
          <p:cNvSpPr/>
          <p:nvPr/>
        </p:nvSpPr>
        <p:spPr>
          <a:xfrm>
            <a:off x="2560320" y="329184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0" name="Shape 18"/>
          <p:cNvSpPr/>
          <p:nvPr/>
        </p:nvSpPr>
        <p:spPr>
          <a:xfrm>
            <a:off x="2560320" y="402336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1" name="Shape 19"/>
          <p:cNvSpPr/>
          <p:nvPr/>
        </p:nvSpPr>
        <p:spPr>
          <a:xfrm>
            <a:off x="3657600" y="36576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2" name="Shape 20"/>
          <p:cNvSpPr/>
          <p:nvPr/>
        </p:nvSpPr>
        <p:spPr>
          <a:xfrm>
            <a:off x="3657600" y="109728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3" name="Shape 21"/>
          <p:cNvSpPr/>
          <p:nvPr/>
        </p:nvSpPr>
        <p:spPr>
          <a:xfrm>
            <a:off x="3657600" y="182880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4" name="Shape 22"/>
          <p:cNvSpPr/>
          <p:nvPr/>
        </p:nvSpPr>
        <p:spPr>
          <a:xfrm>
            <a:off x="3657600" y="256032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5" name="Shape 23"/>
          <p:cNvSpPr/>
          <p:nvPr/>
        </p:nvSpPr>
        <p:spPr>
          <a:xfrm>
            <a:off x="3657600" y="329184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6" name="Shape 24"/>
          <p:cNvSpPr/>
          <p:nvPr/>
        </p:nvSpPr>
        <p:spPr>
          <a:xfrm>
            <a:off x="3657600" y="402336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7" name="Shape 25"/>
          <p:cNvSpPr/>
          <p:nvPr/>
        </p:nvSpPr>
        <p:spPr>
          <a:xfrm>
            <a:off x="4754880" y="36576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8" name="Shape 26"/>
          <p:cNvSpPr/>
          <p:nvPr/>
        </p:nvSpPr>
        <p:spPr>
          <a:xfrm>
            <a:off x="4754880" y="109728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9" name="Shape 27"/>
          <p:cNvSpPr/>
          <p:nvPr/>
        </p:nvSpPr>
        <p:spPr>
          <a:xfrm>
            <a:off x="4754880" y="182880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0" name="Shape 28"/>
          <p:cNvSpPr/>
          <p:nvPr/>
        </p:nvSpPr>
        <p:spPr>
          <a:xfrm>
            <a:off x="4754880" y="256032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1" name="Shape 29"/>
          <p:cNvSpPr/>
          <p:nvPr/>
        </p:nvSpPr>
        <p:spPr>
          <a:xfrm>
            <a:off x="4754880" y="329184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2" name="Shape 30"/>
          <p:cNvSpPr/>
          <p:nvPr/>
        </p:nvSpPr>
        <p:spPr>
          <a:xfrm>
            <a:off x="4754880" y="402336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3" name="Shape 31"/>
          <p:cNvSpPr/>
          <p:nvPr/>
        </p:nvSpPr>
        <p:spPr>
          <a:xfrm>
            <a:off x="5852160" y="36576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4" name="Shape 32"/>
          <p:cNvSpPr/>
          <p:nvPr/>
        </p:nvSpPr>
        <p:spPr>
          <a:xfrm>
            <a:off x="5852160" y="109728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5" name="Shape 33"/>
          <p:cNvSpPr/>
          <p:nvPr/>
        </p:nvSpPr>
        <p:spPr>
          <a:xfrm>
            <a:off x="5852160" y="182880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6" name="Shape 34"/>
          <p:cNvSpPr/>
          <p:nvPr/>
        </p:nvSpPr>
        <p:spPr>
          <a:xfrm>
            <a:off x="5852160" y="256032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7" name="Shape 35"/>
          <p:cNvSpPr/>
          <p:nvPr/>
        </p:nvSpPr>
        <p:spPr>
          <a:xfrm>
            <a:off x="5852160" y="329184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8" name="Shape 36"/>
          <p:cNvSpPr/>
          <p:nvPr/>
        </p:nvSpPr>
        <p:spPr>
          <a:xfrm>
            <a:off x="5852160" y="402336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9" name="Shape 37"/>
          <p:cNvSpPr/>
          <p:nvPr/>
        </p:nvSpPr>
        <p:spPr>
          <a:xfrm>
            <a:off x="6949440" y="36576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0" name="Shape 38"/>
          <p:cNvSpPr/>
          <p:nvPr/>
        </p:nvSpPr>
        <p:spPr>
          <a:xfrm>
            <a:off x="6949440" y="109728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1" name="Shape 39"/>
          <p:cNvSpPr/>
          <p:nvPr/>
        </p:nvSpPr>
        <p:spPr>
          <a:xfrm>
            <a:off x="6949440" y="182880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2" name="Shape 40"/>
          <p:cNvSpPr/>
          <p:nvPr/>
        </p:nvSpPr>
        <p:spPr>
          <a:xfrm>
            <a:off x="6949440" y="256032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3" name="Shape 41"/>
          <p:cNvSpPr/>
          <p:nvPr/>
        </p:nvSpPr>
        <p:spPr>
          <a:xfrm>
            <a:off x="6949440" y="329184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4" name="Shape 42"/>
          <p:cNvSpPr/>
          <p:nvPr/>
        </p:nvSpPr>
        <p:spPr>
          <a:xfrm>
            <a:off x="6949440" y="402336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5" name="Shape 43"/>
          <p:cNvSpPr/>
          <p:nvPr/>
        </p:nvSpPr>
        <p:spPr>
          <a:xfrm>
            <a:off x="8046720" y="36576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6" name="Shape 44"/>
          <p:cNvSpPr/>
          <p:nvPr/>
        </p:nvSpPr>
        <p:spPr>
          <a:xfrm>
            <a:off x="8046720" y="109728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7" name="Shape 45"/>
          <p:cNvSpPr/>
          <p:nvPr/>
        </p:nvSpPr>
        <p:spPr>
          <a:xfrm>
            <a:off x="8046720" y="182880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8" name="Shape 46"/>
          <p:cNvSpPr/>
          <p:nvPr/>
        </p:nvSpPr>
        <p:spPr>
          <a:xfrm>
            <a:off x="8046720" y="256032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9" name="Shape 47"/>
          <p:cNvSpPr/>
          <p:nvPr/>
        </p:nvSpPr>
        <p:spPr>
          <a:xfrm>
            <a:off x="8046720" y="329184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50" name="Shape 48"/>
          <p:cNvSpPr/>
          <p:nvPr/>
        </p:nvSpPr>
        <p:spPr>
          <a:xfrm>
            <a:off x="8046720" y="4023360"/>
            <a:ext cx="64008" cy="6400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51" name="Text 49"/>
          <p:cNvSpPr/>
          <p:nvPr/>
        </p:nvSpPr>
        <p:spPr>
          <a:xfrm>
            <a:off x="795528" y="14630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64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s-CR" sz="6400" noProof="0" dirty="0"/>
          </a:p>
        </p:txBody>
      </p:sp>
      <p:sp>
        <p:nvSpPr>
          <p:cNvPr id="52" name="Text 50"/>
          <p:cNvSpPr/>
          <p:nvPr/>
        </p:nvSpPr>
        <p:spPr>
          <a:xfrm>
            <a:off x="795528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4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Taxi </a:t>
            </a:r>
            <a:r>
              <a:rPr lang="es-CR" sz="14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</a:t>
            </a:r>
            <a:r>
              <a:rPr lang="es-CR" sz="14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R" sz="14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r>
              <a:rPr lang="es-CR" sz="14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Big Data en GCP  ·  ULACIT 2026</a:t>
            </a:r>
            <a:endParaRPr lang="es-CR" sz="1400" noProof="0" dirty="0"/>
          </a:p>
        </p:txBody>
      </p:sp>
      <p:sp>
        <p:nvSpPr>
          <p:cNvPr id="54" name="Text 52"/>
          <p:cNvSpPr/>
          <p:nvPr/>
        </p:nvSpPr>
        <p:spPr>
          <a:xfrm>
            <a:off x="3200400" y="274320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s-CR" sz="1100" noProof="0" dirty="0"/>
          </a:p>
        </p:txBody>
      </p:sp>
      <p:sp>
        <p:nvSpPr>
          <p:cNvPr id="55" name="Text 53"/>
          <p:cNvSpPr/>
          <p:nvPr/>
        </p:nvSpPr>
        <p:spPr>
          <a:xfrm>
            <a:off x="914400" y="297963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A. Miranda Porras  ·  </a:t>
            </a:r>
            <a:r>
              <a:rPr lang="es-CR" sz="12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Jhon</a:t>
            </a:r>
            <a:r>
              <a:rPr lang="es-CR" sz="1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R" sz="12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Kaleb</a:t>
            </a:r>
            <a:r>
              <a:rPr lang="es-CR" sz="1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Wright Herrera</a:t>
            </a:r>
            <a:endParaRPr lang="es-CR" sz="1200" noProof="0" dirty="0"/>
          </a:p>
        </p:txBody>
      </p:sp>
      <p:sp>
        <p:nvSpPr>
          <p:cNvPr id="56" name="Text 54"/>
          <p:cNvSpPr/>
          <p:nvPr/>
        </p:nvSpPr>
        <p:spPr>
          <a:xfrm>
            <a:off x="914400" y="327224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Técnico — Entrega 2  ·  Ingeniería Informática  ·  Abril 2026</a:t>
            </a:r>
            <a:endParaRPr lang="es-CR" sz="1100" noProof="0" dirty="0"/>
          </a:p>
        </p:txBody>
      </p:sp>
      <p:sp>
        <p:nvSpPr>
          <p:cNvPr id="57" name="Shape 5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1049</Words>
  <Application>Microsoft Office PowerPoint</Application>
  <PresentationFormat>Presentación en pantalla (16:9)</PresentationFormat>
  <Paragraphs>183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Procesamiento de Datos Masivos en la Nube — NYC Taxi</dc:title>
  <dc:subject>PptxGenJS Presentation</dc:subject>
  <dc:creator>PptxGenJS</dc:creator>
  <cp:lastModifiedBy>Gabriel Alejandro Miranda Porras</cp:lastModifiedBy>
  <cp:revision>2</cp:revision>
  <dcterms:created xsi:type="dcterms:W3CDTF">2026-04-23T01:03:18Z</dcterms:created>
  <dcterms:modified xsi:type="dcterms:W3CDTF">2026-04-23T01:21:39Z</dcterms:modified>
</cp:coreProperties>
</file>